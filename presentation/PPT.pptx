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256" r:id="rId3"/>
    <p:sldId id="257" r:id="rId4"/>
    <p:sldId id="351" r:id="rId5"/>
    <p:sldId id="306" r:id="rId6"/>
    <p:sldId id="363" r:id="rId7"/>
    <p:sldId id="364" r:id="rId8"/>
    <p:sldId id="366" r:id="rId9"/>
    <p:sldId id="353" r:id="rId10"/>
    <p:sldId id="359" r:id="rId11"/>
    <p:sldId id="369" r:id="rId12"/>
    <p:sldId id="370" r:id="rId13"/>
    <p:sldId id="309" r:id="rId14"/>
    <p:sldId id="360" r:id="rId15"/>
    <p:sldId id="371" r:id="rId16"/>
    <p:sldId id="305" r:id="rId17"/>
    <p:sldId id="352" r:id="rId18"/>
    <p:sldId id="367" r:id="rId19"/>
    <p:sldId id="350" r:id="rId20"/>
    <p:sldId id="368" r:id="rId21"/>
    <p:sldId id="342" r:id="rId22"/>
  </p:sldIdLst>
  <p:sldSz cx="12192000" cy="6858000"/>
  <p:notesSz cx="6954520" cy="9309100"/>
  <p:defaultTextStyle>
    <a:defPPr>
      <a:defRPr lang="en-US"/>
    </a:defPPr>
    <a:lvl1pPr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1pPr>
    <a:lvl2pPr marL="457200"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2pPr>
    <a:lvl3pPr marL="914400"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3pPr>
    <a:lvl4pPr marL="1371600"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4pPr>
    <a:lvl5pPr marL="1828800"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5pPr>
    <a:lvl6pPr marL="2286000" algn="l" defTabSz="914400" rtl="0" eaLnBrk="1" latinLnBrk="0" hangingPunct="1">
      <a:defRPr kern="1200">
        <a:solidFill>
          <a:schemeClr val="tx1"/>
        </a:solidFill>
        <a:latin typeface="Bookman Old Style" panose="02050604050505020204" pitchFamily="18" charset="0"/>
        <a:ea typeface="+mn-ea"/>
        <a:cs typeface="+mn-cs"/>
      </a:defRPr>
    </a:lvl6pPr>
    <a:lvl7pPr marL="2743200" algn="l" defTabSz="914400" rtl="0" eaLnBrk="1" latinLnBrk="0" hangingPunct="1">
      <a:defRPr kern="1200">
        <a:solidFill>
          <a:schemeClr val="tx1"/>
        </a:solidFill>
        <a:latin typeface="Bookman Old Style" panose="02050604050505020204" pitchFamily="18" charset="0"/>
        <a:ea typeface="+mn-ea"/>
        <a:cs typeface="+mn-cs"/>
      </a:defRPr>
    </a:lvl7pPr>
    <a:lvl8pPr marL="3200400" algn="l" defTabSz="914400" rtl="0" eaLnBrk="1" latinLnBrk="0" hangingPunct="1">
      <a:defRPr kern="1200">
        <a:solidFill>
          <a:schemeClr val="tx1"/>
        </a:solidFill>
        <a:latin typeface="Bookman Old Style" panose="02050604050505020204" pitchFamily="18" charset="0"/>
        <a:ea typeface="+mn-ea"/>
        <a:cs typeface="+mn-cs"/>
      </a:defRPr>
    </a:lvl8pPr>
    <a:lvl9pPr marL="3657600" algn="l" defTabSz="914400" rtl="0" eaLnBrk="1" latinLnBrk="0" hangingPunct="1">
      <a:defRPr kern="1200">
        <a:solidFill>
          <a:schemeClr val="tx1"/>
        </a:solidFill>
        <a:latin typeface="Bookman Old Style" panose="020506040505050202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3447" autoAdjust="0"/>
  </p:normalViewPr>
  <p:slideViewPr>
    <p:cSldViewPr snapToGrid="0" showGuides="1">
      <p:cViewPr varScale="1">
        <p:scale>
          <a:sx n="63" d="100"/>
          <a:sy n="63" d="100"/>
        </p:scale>
        <p:origin x="800" y="56"/>
      </p:cViewPr>
      <p:guideLst>
        <p:guide orient="horz" pos="2160"/>
        <p:guide pos="3840"/>
      </p:guideLst>
    </p:cSldViewPr>
  </p:slideViewPr>
  <p:outlineViewPr>
    <p:cViewPr>
      <p:scale>
        <a:sx n="33" d="100"/>
        <a:sy n="33" d="100"/>
      </p:scale>
      <p:origin x="0" y="-8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2930" tIns="46465" rIns="92930" bIns="46465" rtlCol="0"/>
          <a:lstStyle>
            <a:lvl1pPr algn="l">
              <a:defRPr sz="1200"/>
            </a:lvl1pPr>
          </a:lstStyle>
          <a:p>
            <a:pPr>
              <a:defRPr/>
            </a:pPr>
            <a:endParaRPr lang="en-US" dirty="0"/>
          </a:p>
        </p:txBody>
      </p:sp>
      <p:sp>
        <p:nvSpPr>
          <p:cNvPr id="3" name="Date Placeholder 2"/>
          <p:cNvSpPr>
            <a:spLocks noGrp="1"/>
          </p:cNvSpPr>
          <p:nvPr>
            <p:ph type="dt" sz="quarter" idx="1"/>
          </p:nvPr>
        </p:nvSpPr>
        <p:spPr>
          <a:xfrm>
            <a:off x="3940175" y="0"/>
            <a:ext cx="3013075" cy="465138"/>
          </a:xfrm>
          <a:prstGeom prst="rect">
            <a:avLst/>
          </a:prstGeom>
        </p:spPr>
        <p:txBody>
          <a:bodyPr vert="horz" lIns="92930" tIns="46465" rIns="92930" bIns="46465" rtlCol="0"/>
          <a:lstStyle>
            <a:lvl1pPr algn="r">
              <a:defRPr sz="1200"/>
            </a:lvl1pPr>
          </a:lstStyle>
          <a:p>
            <a:pPr>
              <a:defRPr/>
            </a:pPr>
            <a:fld id="{0D537B2C-B9FD-47DB-91C4-8606B3AEE4E2}" type="datetimeFigureOut">
              <a:rPr lang="en-US"/>
            </a:fld>
            <a:endParaRPr lang="en-US" dirty="0"/>
          </a:p>
        </p:txBody>
      </p:sp>
      <p:sp>
        <p:nvSpPr>
          <p:cNvPr id="4" name="Footer Placeholder 3"/>
          <p:cNvSpPr>
            <a:spLocks noGrp="1"/>
          </p:cNvSpPr>
          <p:nvPr>
            <p:ph type="ftr" sz="quarter" idx="2"/>
          </p:nvPr>
        </p:nvSpPr>
        <p:spPr>
          <a:xfrm>
            <a:off x="0" y="8842375"/>
            <a:ext cx="3013075" cy="465138"/>
          </a:xfrm>
          <a:prstGeom prst="rect">
            <a:avLst/>
          </a:prstGeom>
        </p:spPr>
        <p:txBody>
          <a:bodyPr vert="horz" lIns="92930" tIns="46465" rIns="92930" bIns="46465" rtlCol="0" anchor="b"/>
          <a:lstStyle>
            <a:lvl1pPr algn="l">
              <a:defRPr sz="1200"/>
            </a:lvl1pPr>
          </a:lstStyle>
          <a:p>
            <a:pPr>
              <a:defRPr/>
            </a:pPr>
            <a:endParaRPr lang="en-US" dirty="0"/>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wrap="square" lIns="92930" tIns="46465" rIns="92930" bIns="46465" numCol="1" anchor="b" anchorCtr="0" compatLnSpc="1"/>
          <a:lstStyle>
            <a:lvl1pPr algn="r">
              <a:defRPr sz="1200" smtClean="0"/>
            </a:lvl1pPr>
          </a:lstStyle>
          <a:p>
            <a:pPr>
              <a:defRPr/>
            </a:pPr>
            <a:fld id="{1FD847D6-CB21-4E2E-B3B5-6549624666A8}" type="slidenum">
              <a:rPr lang="en-US" altLang="en-US"/>
            </a:fld>
            <a:endParaRPr lang="en-US" altLang="en-US" dirty="0"/>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2T02:51:07"/>
    </inkml:context>
    <inkml:brush xml:id="br0">
      <inkml:brushProperty name="width" value="0.035" units="cm"/>
      <inkml:brushProperty name="height" value="0.035" units="cm"/>
      <inkml:brushProperty name="color" value="#ffffff"/>
    </inkml:brush>
  </inkml:definitions>
  <inkml:trace contextRef="#ctx0" brushRef="#br0">1.000 0.000 24575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defRPr>
            </a:lvl1pPr>
          </a:lstStyle>
          <a:p>
            <a:pPr>
              <a:defRPr/>
            </a:pPr>
            <a:fld id="{4C3C39CB-B4C9-4DCE-AD9E-39F10ADFA5C3}" type="datetimeFigureOut">
              <a:rPr lang="en-US"/>
            </a:fld>
            <a:endParaRPr lang="en-US" dirty="0"/>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dirty="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lstStyle>
            <a:lvl1pPr algn="r" eaLnBrk="1" hangingPunct="1">
              <a:defRPr sz="1200" smtClean="0">
                <a:latin typeface="Calibri" panose="020F0502020204030204" pitchFamily="34" charset="0"/>
              </a:defRPr>
            </a:lvl1pPr>
          </a:lstStyle>
          <a:p>
            <a:pPr>
              <a:defRPr/>
            </a:pPr>
            <a:fld id="{2B3EF142-6F38-4AD1-AB0A-BFE2FCF31E19}" type="slidenum">
              <a:rPr lang="en-US" altLang="en-US"/>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Logo, company name&#10;&#10;Description automatically generated"/>
          <p:cNvPicPr>
            <a:picLocks noChangeAspect="1"/>
          </p:cNvPicPr>
          <p:nvPr userDrawn="1"/>
        </p:nvPicPr>
        <p:blipFill>
          <a:blip r:embed="rId2"/>
          <a:srcRect/>
          <a:stretch>
            <a:fillRect/>
          </a:stretch>
        </p:blipFill>
        <p:spPr bwMode="auto">
          <a:xfrm>
            <a:off x="5505450" y="20638"/>
            <a:ext cx="1181100" cy="1101725"/>
          </a:xfrm>
          <a:prstGeom prst="rect">
            <a:avLst/>
          </a:prstGeom>
          <a:noFill/>
          <a:ln w="9525">
            <a:noFill/>
            <a:miter lim="800000"/>
            <a:headEnd/>
            <a:tailEnd/>
          </a:ln>
        </p:spPr>
      </p:pic>
      <p:pic>
        <p:nvPicPr>
          <p:cNvPr id="5" name="Picture 2"/>
          <p:cNvPicPr>
            <a:picLocks noChangeAspect="1" noChangeArrowheads="1"/>
          </p:cNvPicPr>
          <p:nvPr userDrawn="1"/>
        </p:nvPicPr>
        <p:blipFill>
          <a:blip r:embed="rId3"/>
          <a:srcRect/>
          <a:stretch>
            <a:fillRect/>
          </a:stretch>
        </p:blipFill>
        <p:spPr bwMode="auto">
          <a:xfrm>
            <a:off x="5159375" y="5467350"/>
            <a:ext cx="2260600" cy="798513"/>
          </a:xfrm>
          <a:prstGeom prst="rect">
            <a:avLst/>
          </a:prstGeom>
          <a:noFill/>
          <a:ln w="9525">
            <a:noFill/>
            <a:miter lim="800000"/>
            <a:headEnd/>
            <a:tailEnd/>
          </a:ln>
        </p:spPr>
      </p:pic>
      <p:sp>
        <p:nvSpPr>
          <p:cNvPr id="2" name="Title 1"/>
          <p:cNvSpPr>
            <a:spLocks noGrp="1"/>
          </p:cNvSpPr>
          <p:nvPr>
            <p:ph type="ctrTitle"/>
          </p:nvPr>
        </p:nvSpPr>
        <p:spPr>
          <a:xfrm>
            <a:off x="1524000" y="1960563"/>
            <a:ext cx="9144000" cy="1277937"/>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0334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fld id="{D6D4FF8A-0CBA-431B-8A13-7BC9272AEFC2}" type="datetime2">
              <a:rPr lang="en-US"/>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US" dirty="0"/>
              <a:t>© BVRIT CSE(AI &amp; ML)</a:t>
            </a:r>
            <a:endParaRPr lang="en-US" dirty="0"/>
          </a:p>
        </p:txBody>
      </p:sp>
      <p:sp>
        <p:nvSpPr>
          <p:cNvPr id="8" name="Slide Number Placeholder 5"/>
          <p:cNvSpPr>
            <a:spLocks noGrp="1"/>
          </p:cNvSpPr>
          <p:nvPr>
            <p:ph type="sldNum" sz="quarter" idx="12"/>
          </p:nvPr>
        </p:nvSpPr>
        <p:spPr/>
        <p:txBody>
          <a:bodyPr/>
          <a:lstStyle>
            <a:lvl1pPr>
              <a:defRPr smtClean="0"/>
            </a:lvl1pPr>
          </a:lstStyle>
          <a:p>
            <a:pPr>
              <a:defRPr/>
            </a:pPr>
            <a:fld id="{5FBF479A-0BDD-48BE-92E1-39A5437B6BC8}" type="slidenum">
              <a:rPr lang="en-US" altLang="en-US"/>
            </a:fld>
            <a:endParaRPr lang="en-US"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4"/>
          <p:cNvGrpSpPr/>
          <p:nvPr userDrawn="1"/>
        </p:nvGrpSpPr>
        <p:grpSpPr bwMode="auto">
          <a:xfrm>
            <a:off x="7240588" y="6302375"/>
            <a:ext cx="4489450" cy="0"/>
            <a:chOff x="7230414" y="6467118"/>
            <a:chExt cx="4489361" cy="0"/>
          </a:xfrm>
        </p:grpSpPr>
        <p:cxnSp>
          <p:nvCxnSpPr>
            <p:cNvPr id="5" name="Straight Connector 4"/>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0"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gn="just">
              <a:defRPr b="0">
                <a:solidFill>
                  <a:schemeClr val="tx1"/>
                </a:solidFill>
              </a:defRPr>
            </a:lvl1pPr>
            <a:lvl2pPr algn="just">
              <a:defRPr b="0">
                <a:solidFill>
                  <a:schemeClr val="tx1"/>
                </a:solidFill>
              </a:defRPr>
            </a:lvl2pPr>
            <a:lvl3pPr algn="just">
              <a:defRPr b="0">
                <a:solidFill>
                  <a:schemeClr val="tx1"/>
                </a:solidFill>
              </a:defRPr>
            </a:lvl3pPr>
            <a:lvl4pPr algn="just">
              <a:defRPr b="0">
                <a:solidFill>
                  <a:schemeClr val="tx1"/>
                </a:solidFill>
              </a:defRPr>
            </a:lvl4pPr>
            <a:lvl5pPr algn="just">
              <a:defRPr b="0">
                <a:solidFill>
                  <a:schemeClr val="tx1"/>
                </a:solidFill>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1" name="Date Placeholder 3"/>
          <p:cNvSpPr>
            <a:spLocks noGrp="1"/>
          </p:cNvSpPr>
          <p:nvPr>
            <p:ph type="dt" sz="half" idx="10"/>
          </p:nvPr>
        </p:nvSpPr>
        <p:spPr/>
        <p:txBody>
          <a:bodyPr/>
          <a:lstStyle>
            <a:lvl1pPr>
              <a:defRPr/>
            </a:lvl1pPr>
          </a:lstStyle>
          <a:p>
            <a:pPr>
              <a:defRPr/>
            </a:pPr>
            <a:fld id="{6907BCE9-832B-4CF1-A300-CFAFFA53FA5E}" type="datetime2">
              <a:rPr lang="en-US"/>
            </a:fld>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dirty="0"/>
              <a:t>© BVRIT CSE(AI &amp; ML)</a:t>
            </a:r>
            <a:endParaRPr lang="en-US" dirty="0"/>
          </a:p>
        </p:txBody>
      </p:sp>
      <p:sp>
        <p:nvSpPr>
          <p:cNvPr id="13" name="Slide Number Placeholder 5"/>
          <p:cNvSpPr>
            <a:spLocks noGrp="1"/>
          </p:cNvSpPr>
          <p:nvPr>
            <p:ph type="sldNum" sz="quarter" idx="12"/>
          </p:nvPr>
        </p:nvSpPr>
        <p:spPr/>
        <p:txBody>
          <a:bodyPr/>
          <a:lstStyle>
            <a:lvl1pPr>
              <a:defRPr smtClean="0"/>
            </a:lvl1pPr>
          </a:lstStyle>
          <a:p>
            <a:pPr>
              <a:defRPr/>
            </a:pPr>
            <a:fld id="{2D96E056-3901-41CB-802B-E67DADB7F3B2}" type="slidenum">
              <a:rPr lang="en-US" altLang="en-US"/>
            </a:fld>
            <a:endParaRPr lang="en-US"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ctr">
              <a:defRPr sz="4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jus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
        <p:nvSpPr>
          <p:cNvPr id="4" name="Date Placeholder 3"/>
          <p:cNvSpPr>
            <a:spLocks noGrp="1"/>
          </p:cNvSpPr>
          <p:nvPr>
            <p:ph type="dt" sz="half" idx="10"/>
          </p:nvPr>
        </p:nvSpPr>
        <p:spPr/>
        <p:txBody>
          <a:bodyPr/>
          <a:lstStyle>
            <a:lvl1pPr>
              <a:defRPr/>
            </a:lvl1pPr>
          </a:lstStyle>
          <a:p>
            <a:pPr>
              <a:defRPr/>
            </a:pPr>
            <a:fld id="{3AF6F644-C6FC-4C8D-99F7-70852434A2AB}" type="datetime2">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 BVRIT CSE(AI &amp; ML)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759A464-761B-497E-A9EC-21A070F834F6}" type="slidenum">
              <a:rPr lang="en-US" altLang="en-US"/>
            </a:fld>
            <a:endParaRPr lang="en-US"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p:nvPr userDrawn="1"/>
        </p:nvGrpSpPr>
        <p:grpSpPr bwMode="auto">
          <a:xfrm>
            <a:off x="7240588" y="6302375"/>
            <a:ext cx="4489450" cy="0"/>
            <a:chOff x="7230414" y="6467118"/>
            <a:chExt cx="4489361" cy="0"/>
          </a:xfrm>
        </p:grpSpPr>
        <p:cxnSp>
          <p:nvCxnSpPr>
            <p:cNvPr id="6" name="Straight Connector 5"/>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1"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050925"/>
            <a:ext cx="5181600" cy="4351338"/>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0509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2" name="Date Placeholder 4"/>
          <p:cNvSpPr>
            <a:spLocks noGrp="1"/>
          </p:cNvSpPr>
          <p:nvPr>
            <p:ph type="dt" sz="half" idx="10"/>
          </p:nvPr>
        </p:nvSpPr>
        <p:spPr/>
        <p:txBody>
          <a:bodyPr/>
          <a:lstStyle>
            <a:lvl1pPr>
              <a:defRPr/>
            </a:lvl1pPr>
          </a:lstStyle>
          <a:p>
            <a:pPr>
              <a:defRPr/>
            </a:pPr>
            <a:fld id="{859451DD-614E-4DCA-B961-94FF1A1ADA57}" type="datetime2">
              <a:rPr lang="en-US"/>
            </a:fld>
            <a:endParaRPr lang="en-US" dirty="0"/>
          </a:p>
        </p:txBody>
      </p:sp>
      <p:sp>
        <p:nvSpPr>
          <p:cNvPr id="13" name="Footer Placeholder 5"/>
          <p:cNvSpPr>
            <a:spLocks noGrp="1"/>
          </p:cNvSpPr>
          <p:nvPr>
            <p:ph type="ftr" sz="quarter" idx="11"/>
          </p:nvPr>
        </p:nvSpPr>
        <p:spPr/>
        <p:txBody>
          <a:bodyPr/>
          <a:lstStyle>
            <a:lvl1pPr>
              <a:defRPr/>
            </a:lvl1pPr>
          </a:lstStyle>
          <a:p>
            <a:pPr>
              <a:defRPr/>
            </a:pPr>
            <a:r>
              <a:rPr lang="en-US" dirty="0"/>
              <a:t>© BVRIT CSE(AI &amp; ML)</a:t>
            </a:r>
            <a:endParaRPr lang="en-US" dirty="0"/>
          </a:p>
        </p:txBody>
      </p:sp>
      <p:sp>
        <p:nvSpPr>
          <p:cNvPr id="14" name="Slide Number Placeholder 6"/>
          <p:cNvSpPr>
            <a:spLocks noGrp="1"/>
          </p:cNvSpPr>
          <p:nvPr>
            <p:ph type="sldNum" sz="quarter" idx="12"/>
          </p:nvPr>
        </p:nvSpPr>
        <p:spPr/>
        <p:txBody>
          <a:bodyPr/>
          <a:lstStyle>
            <a:lvl1pPr>
              <a:defRPr smtClean="0"/>
            </a:lvl1pPr>
          </a:lstStyle>
          <a:p>
            <a:pPr>
              <a:defRPr/>
            </a:pPr>
            <a:fld id="{943A295C-00CF-4B3D-B3C7-2A9DC3CDDE75}" type="slidenum">
              <a:rPr lang="en-US" altLang="en-US"/>
            </a:fld>
            <a:endParaRPr lang="en-US"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128713" y="138113"/>
            <a:ext cx="9767887" cy="595312"/>
          </a:xfrm>
          <a:prstGeom prst="rect">
            <a:avLst/>
          </a:prstGeom>
          <a:noFill/>
          <a:ln w="9525">
            <a:noFill/>
            <a:miter lim="800000"/>
          </a:ln>
        </p:spPr>
        <p:txBody>
          <a:bodyPr vert="horz" wrap="square" lIns="91440" tIns="45720" rIns="91440" bIns="45720" numCol="1" anchor="ctr" anchorCtr="0" compatLnSpc="1"/>
          <a:lstStyle/>
          <a:p>
            <a:pPr lvl="0"/>
            <a:r>
              <a:rPr lang="en-US" altLang="en-US"/>
              <a:t>Uday</a:t>
            </a:r>
            <a:endParaRPr lang="en-US" altLang="en-US"/>
          </a:p>
        </p:txBody>
      </p:sp>
      <p:sp>
        <p:nvSpPr>
          <p:cNvPr id="1027" name="Text Placeholder 2"/>
          <p:cNvSpPr>
            <a:spLocks noGrp="1"/>
          </p:cNvSpPr>
          <p:nvPr>
            <p:ph type="body" idx="1"/>
          </p:nvPr>
        </p:nvSpPr>
        <p:spPr bwMode="auto">
          <a:xfrm>
            <a:off x="1128713" y="1090613"/>
            <a:ext cx="9767887" cy="4818062"/>
          </a:xfrm>
          <a:prstGeom prst="rect">
            <a:avLst/>
          </a:prstGeom>
          <a:noFill/>
          <a:ln w="9525">
            <a:noFill/>
            <a:miter lim="800000"/>
          </a:ln>
        </p:spPr>
        <p:txBody>
          <a:bodyPr vert="horz" wrap="square" lIns="91440" tIns="45720" rIns="91440" bIns="45720" numCol="1" anchor="t" anchorCtr="0" compatLnSpc="1"/>
          <a:lstStyle/>
          <a:p>
            <a:pPr lvl="0"/>
            <a:r>
              <a:rPr lang="en-US" altLang="en-US"/>
              <a:t>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400" b="1">
                <a:solidFill>
                  <a:srgbClr val="002060"/>
                </a:solidFill>
                <a:latin typeface="+mn-lt"/>
              </a:defRPr>
            </a:lvl1pPr>
          </a:lstStyle>
          <a:p>
            <a:pPr>
              <a:defRPr/>
            </a:pPr>
            <a:fld id="{453AA481-BFE3-42B3-A623-3169D7EACBAD}" type="datetime2">
              <a:rPr lang="en-US"/>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400" b="1">
                <a:solidFill>
                  <a:srgbClr val="002060"/>
                </a:solidFill>
                <a:latin typeface="+mn-lt"/>
              </a:defRPr>
            </a:lvl1pPr>
          </a:lstStyle>
          <a:p>
            <a:pPr>
              <a:defRPr/>
            </a:pPr>
            <a:r>
              <a:rPr lang="en-US" dirty="0"/>
              <a:t>© BVRIT CSE(AI &amp; ML)</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400" b="1" smtClean="0">
                <a:solidFill>
                  <a:srgbClr val="002060"/>
                </a:solidFill>
              </a:defRPr>
            </a:lvl1pPr>
          </a:lstStyle>
          <a:p>
            <a:pPr>
              <a:defRPr/>
            </a:pPr>
            <a:fld id="{A8FB41C8-7EC4-4FC4-9E8F-BA3A610E8B4A}" type="slidenum">
              <a:rPr lang="en-US" altLang="en-US"/>
            </a:fld>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rtl="0" eaLnBrk="0" fontAlgn="base" hangingPunct="0">
        <a:lnSpc>
          <a:spcPct val="90000"/>
        </a:lnSpc>
        <a:spcBef>
          <a:spcPct val="0"/>
        </a:spcBef>
        <a:spcAft>
          <a:spcPct val="0"/>
        </a:spcAft>
        <a:defRPr sz="2800" b="1" kern="1200">
          <a:solidFill>
            <a:srgbClr val="002060"/>
          </a:solidFill>
          <a:latin typeface="+mj-lt"/>
          <a:ea typeface="+mj-ea"/>
          <a:cs typeface="+mj-cs"/>
        </a:defRPr>
      </a:lvl1pPr>
      <a:lvl2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2pPr>
      <a:lvl3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3pPr>
      <a:lvl4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4pPr>
      <a:lvl5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5pPr>
      <a:lvl6pPr marL="457200" algn="l" rtl="0" fontAlgn="base">
        <a:lnSpc>
          <a:spcPct val="90000"/>
        </a:lnSpc>
        <a:spcBef>
          <a:spcPct val="0"/>
        </a:spcBef>
        <a:spcAft>
          <a:spcPct val="0"/>
        </a:spcAft>
        <a:defRPr sz="2800" b="1">
          <a:solidFill>
            <a:srgbClr val="002060"/>
          </a:solidFill>
          <a:latin typeface="Bookman Old Style" panose="02050604050505020204" pitchFamily="18" charset="0"/>
        </a:defRPr>
      </a:lvl6pPr>
      <a:lvl7pPr marL="914400" algn="l" rtl="0" fontAlgn="base">
        <a:lnSpc>
          <a:spcPct val="90000"/>
        </a:lnSpc>
        <a:spcBef>
          <a:spcPct val="0"/>
        </a:spcBef>
        <a:spcAft>
          <a:spcPct val="0"/>
        </a:spcAft>
        <a:defRPr sz="2800" b="1">
          <a:solidFill>
            <a:srgbClr val="002060"/>
          </a:solidFill>
          <a:latin typeface="Bookman Old Style" panose="02050604050505020204" pitchFamily="18" charset="0"/>
        </a:defRPr>
      </a:lvl7pPr>
      <a:lvl8pPr marL="1371600" algn="l" rtl="0" fontAlgn="base">
        <a:lnSpc>
          <a:spcPct val="90000"/>
        </a:lnSpc>
        <a:spcBef>
          <a:spcPct val="0"/>
        </a:spcBef>
        <a:spcAft>
          <a:spcPct val="0"/>
        </a:spcAft>
        <a:defRPr sz="2800" b="1">
          <a:solidFill>
            <a:srgbClr val="002060"/>
          </a:solidFill>
          <a:latin typeface="Bookman Old Style" panose="02050604050505020204" pitchFamily="18" charset="0"/>
        </a:defRPr>
      </a:lvl8pPr>
      <a:lvl9pPr marL="1828800" algn="l" rtl="0" fontAlgn="base">
        <a:lnSpc>
          <a:spcPct val="90000"/>
        </a:lnSpc>
        <a:spcBef>
          <a:spcPct val="0"/>
        </a:spcBef>
        <a:spcAft>
          <a:spcPct val="0"/>
        </a:spcAft>
        <a:defRPr sz="2800" b="1">
          <a:solidFill>
            <a:srgbClr val="002060"/>
          </a:solidFill>
          <a:latin typeface="Bookman Old Style" panose="02050604050505020204" pitchFamily="18" charset="0"/>
        </a:defRPr>
      </a:lvl9pPr>
    </p:titleStyle>
    <p:bodyStyle>
      <a:lvl1pPr marL="228600" indent="-228600" algn="just" rtl="0" eaLnBrk="0" fontAlgn="base" hangingPunct="0">
        <a:lnSpc>
          <a:spcPct val="90000"/>
        </a:lnSpc>
        <a:spcBef>
          <a:spcPts val="1000"/>
        </a:spcBef>
        <a:spcAft>
          <a:spcPct val="0"/>
        </a:spcAft>
        <a:buFont typeface="Arial" panose="020B0604020202020204" pitchFamily="34" charset="0"/>
        <a:buChar char="•"/>
        <a:defRPr sz="3200" kern="1200">
          <a:solidFill>
            <a:schemeClr val="tx1"/>
          </a:solidFill>
          <a:latin typeface="+mn-lt"/>
          <a:ea typeface="+mn-ea"/>
          <a:cs typeface="+mn-cs"/>
        </a:defRPr>
      </a:lvl1pPr>
      <a:lvl2pPr marL="685800" indent="-228600" algn="just" rtl="0" eaLnBrk="0" fontAlgn="base" hangingPunct="0">
        <a:lnSpc>
          <a:spcPct val="90000"/>
        </a:lnSpc>
        <a:spcBef>
          <a:spcPts val="5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just"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just"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just"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customXml" Target="../ink/ink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requests.readthedocs.io/en/latest/&#13;" TargetMode="External"/><Relationship Id="rId2" Type="http://schemas.openxmlformats.org/officeDocument/2006/relationships/hyperlink" Target="https://en.wikipedia.org/api/rest_v1/" TargetMode="External"/><Relationship Id="rId1" Type="http://schemas.openxmlformats.org/officeDocument/2006/relationships/hyperlink" Target="%20https://docs.python.org/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292100" y="1155065"/>
            <a:ext cx="11899900" cy="1049338"/>
          </a:xfrm>
        </p:spPr>
        <p:txBody>
          <a:bodyPr>
            <a:noAutofit/>
          </a:bodyPr>
          <a:lstStyle/>
          <a:p>
            <a:pPr eaLnBrk="1" hangingPunct="1">
              <a:defRPr/>
            </a:pPr>
            <a:r>
              <a:rPr lang="en-IN" altLang="en-US" sz="2800" dirty="0">
                <a:latin typeface="Cambria" panose="02040503050406030204" pitchFamily="18" charset="0"/>
                <a:ea typeface="Cambria" panose="02040503050406030204" pitchFamily="18" charset="0"/>
              </a:rPr>
              <a:t>B V RAJU INSTITUTE OF TECHNOLOGY</a:t>
            </a:r>
            <a:br>
              <a:rPr lang="en-IN" altLang="en-US" sz="2800" dirty="0">
                <a:latin typeface="Cambria" panose="02040503050406030204" pitchFamily="18" charset="0"/>
                <a:ea typeface="Cambria" panose="02040503050406030204" pitchFamily="18" charset="0"/>
              </a:rPr>
            </a:br>
            <a:r>
              <a:rPr lang="en-IN" altLang="en-US" sz="1800" dirty="0">
                <a:latin typeface="Cambria" panose="02040503050406030204" pitchFamily="18" charset="0"/>
                <a:ea typeface="Cambria" panose="02040503050406030204" pitchFamily="18" charset="0"/>
              </a:rPr>
              <a:t>(UGC Autonomous)</a:t>
            </a:r>
            <a:br>
              <a:rPr lang="en-IN" altLang="en-US" sz="1800" dirty="0">
                <a:latin typeface="Cambria" panose="02040503050406030204" pitchFamily="18" charset="0"/>
                <a:ea typeface="Cambria" panose="02040503050406030204" pitchFamily="18" charset="0"/>
              </a:rPr>
            </a:br>
            <a:r>
              <a:rPr lang="en-IN" altLang="en-US" sz="1800" dirty="0">
                <a:latin typeface="Cambria" panose="02040503050406030204" pitchFamily="18" charset="0"/>
                <a:ea typeface="Cambria" panose="02040503050406030204" pitchFamily="18" charset="0"/>
              </a:rPr>
              <a:t>Vishnupur, Narsapur, Medak District</a:t>
            </a:r>
            <a:endParaRPr lang="en-US" altLang="en-US" sz="1800" dirty="0">
              <a:latin typeface="Cambria" panose="02040503050406030204" pitchFamily="18" charset="0"/>
              <a:ea typeface="Cambria" panose="02040503050406030204" pitchFamily="18" charset="0"/>
            </a:endParaRPr>
          </a:p>
        </p:txBody>
      </p:sp>
      <p:sp>
        <p:nvSpPr>
          <p:cNvPr id="10" name="TextBox 9"/>
          <p:cNvSpPr txBox="1"/>
          <p:nvPr/>
        </p:nvSpPr>
        <p:spPr>
          <a:xfrm>
            <a:off x="697930" y="4530132"/>
            <a:ext cx="4418356" cy="830997"/>
          </a:xfrm>
          <a:prstGeom prst="rect">
            <a:avLst/>
          </a:prstGeom>
          <a:noFill/>
        </p:spPr>
        <p:txBody>
          <a:bodyPr wrap="square" rtlCol="0">
            <a:spAutoFit/>
          </a:bodyPr>
          <a:lstStyle/>
          <a:p>
            <a:r>
              <a:rPr lang="en-IN" sz="1600" dirty="0"/>
              <a:t>Guide : </a:t>
            </a:r>
            <a:endParaRPr lang="en-US" sz="1600" dirty="0"/>
          </a:p>
          <a:p>
            <a:r>
              <a:rPr lang="en-US" sz="1600" dirty="0"/>
              <a:t>Supervisor	: </a:t>
            </a:r>
            <a:r>
              <a:rPr lang="en-US" sz="1600" b="1" dirty="0"/>
              <a:t>Ms. </a:t>
            </a:r>
            <a:r>
              <a:rPr lang="en-US" sz="1600" b="1" dirty="0" err="1"/>
              <a:t>Srilakshmi</a:t>
            </a:r>
            <a:r>
              <a:rPr lang="en-US" sz="1600" b="1" dirty="0"/>
              <a:t> V</a:t>
            </a:r>
            <a:endParaRPr lang="en-US" sz="1600" b="1" dirty="0"/>
          </a:p>
          <a:p>
            <a:r>
              <a:rPr lang="en-IN" sz="1600" dirty="0"/>
              <a:t>Co-Supervisor   	: </a:t>
            </a:r>
            <a:r>
              <a:rPr lang="en-US" sz="1600" b="1" dirty="0"/>
              <a:t>Ms. B . Priyanka</a:t>
            </a:r>
            <a:endParaRPr lang="en-US" sz="1600" b="1" dirty="0"/>
          </a:p>
        </p:txBody>
      </p:sp>
      <p:sp>
        <p:nvSpPr>
          <p:cNvPr id="11" name="TextBox 10"/>
          <p:cNvSpPr txBox="1"/>
          <p:nvPr/>
        </p:nvSpPr>
        <p:spPr>
          <a:xfrm>
            <a:off x="7590560" y="4522288"/>
            <a:ext cx="4166012" cy="1077218"/>
          </a:xfrm>
          <a:prstGeom prst="rect">
            <a:avLst/>
          </a:prstGeom>
          <a:noFill/>
        </p:spPr>
        <p:txBody>
          <a:bodyPr wrap="square" rtlCol="0">
            <a:spAutoFit/>
          </a:bodyPr>
          <a:lstStyle/>
          <a:p>
            <a:r>
              <a:rPr lang="en-IN" sz="1600" dirty="0"/>
              <a:t>Presented by : </a:t>
            </a:r>
            <a:endParaRPr lang="en-IN" sz="1600" dirty="0"/>
          </a:p>
          <a:p>
            <a:r>
              <a:rPr lang="en-IN" sz="1600" dirty="0"/>
              <a:t>Ch. Kavya Spoorthi           23211A6633                          </a:t>
            </a:r>
            <a:endParaRPr lang="en-IN" sz="1600" dirty="0"/>
          </a:p>
          <a:p>
            <a:r>
              <a:rPr lang="en-IN" sz="1600" dirty="0"/>
              <a:t>D. Ramcharan	             23211A6643</a:t>
            </a:r>
            <a:endParaRPr lang="en-IN" sz="1600" dirty="0"/>
          </a:p>
          <a:p>
            <a:r>
              <a:rPr lang="en-IN" sz="1600" dirty="0"/>
              <a:t>D. Harsha Vardhan           23211A6640</a:t>
            </a:r>
            <a:endParaRPr lang="en-IN" sz="1600" dirty="0"/>
          </a:p>
        </p:txBody>
      </p:sp>
      <p:sp>
        <p:nvSpPr>
          <p:cNvPr id="7" name="TextBox 6"/>
          <p:cNvSpPr txBox="1"/>
          <p:nvPr/>
        </p:nvSpPr>
        <p:spPr>
          <a:xfrm>
            <a:off x="2882900" y="2413000"/>
            <a:ext cx="6972300" cy="645160"/>
          </a:xfrm>
          <a:prstGeom prst="rect">
            <a:avLst/>
          </a:prstGeom>
          <a:noFill/>
        </p:spPr>
        <p:txBody>
          <a:bodyPr wrap="square" rtlCol="0">
            <a:spAutoFit/>
          </a:bodyPr>
          <a:lstStyle/>
          <a:p>
            <a:pPr algn="ctr"/>
            <a:r>
              <a:rPr lang="en-IN" b="1" dirty="0">
                <a:solidFill>
                  <a:schemeClr val="accent2">
                    <a:lumMod val="75000"/>
                  </a:schemeClr>
                </a:solidFill>
                <a:latin typeface="Cambria" panose="02040503050406030204" pitchFamily="18" charset="0"/>
                <a:ea typeface="Cambria" panose="02040503050406030204" pitchFamily="18" charset="0"/>
              </a:rPr>
              <a:t>Department of CSE(Artificial Intelligence and Machine Learning)</a:t>
            </a:r>
            <a:endParaRPr lang="en-IN" b="1" dirty="0">
              <a:solidFill>
                <a:schemeClr val="accent2">
                  <a:lumMod val="75000"/>
                </a:schemeClr>
              </a:solidFill>
              <a:latin typeface="Cambria" panose="02040503050406030204" pitchFamily="18" charset="0"/>
              <a:ea typeface="Cambria" panose="02040503050406030204" pitchFamily="18" charset="0"/>
            </a:endParaRPr>
          </a:p>
          <a:p>
            <a:pPr algn="ctr"/>
            <a:r>
              <a:rPr lang="en-IN" b="1" dirty="0">
                <a:solidFill>
                  <a:schemeClr val="accent2">
                    <a:lumMod val="75000"/>
                  </a:schemeClr>
                </a:solidFill>
                <a:latin typeface="Cambria" panose="02040503050406030204" pitchFamily="18" charset="0"/>
                <a:ea typeface="Cambria" panose="02040503050406030204" pitchFamily="18" charset="0"/>
              </a:rPr>
              <a:t>Minor Project –  Review</a:t>
            </a:r>
            <a:endParaRPr lang="en-US" b="1" dirty="0">
              <a:solidFill>
                <a:schemeClr val="accent2">
                  <a:lumMod val="75000"/>
                </a:schemeClr>
              </a:solidFill>
              <a:latin typeface="Cambria" panose="02040503050406030204" pitchFamily="18" charset="0"/>
              <a:ea typeface="Cambria" panose="02040503050406030204" pitchFamily="18" charset="0"/>
            </a:endParaRPr>
          </a:p>
        </p:txBody>
      </p:sp>
      <p:sp>
        <p:nvSpPr>
          <p:cNvPr id="8" name="TextBox 7"/>
          <p:cNvSpPr txBox="1"/>
          <p:nvPr/>
        </p:nvSpPr>
        <p:spPr>
          <a:xfrm>
            <a:off x="2227942" y="3398560"/>
            <a:ext cx="8028215" cy="706755"/>
          </a:xfrm>
          <a:prstGeom prst="rect">
            <a:avLst/>
          </a:prstGeom>
          <a:noFill/>
        </p:spPr>
        <p:txBody>
          <a:bodyPr wrap="square" rtlCol="0">
            <a:spAutoFit/>
          </a:bodyPr>
          <a:lstStyle/>
          <a:p>
            <a:pPr algn="ctr"/>
            <a:r>
              <a:rPr lang="en-IN" altLang="en-US" sz="2000" b="1" dirty="0"/>
              <a:t>Voice Activated - Emotion Based Study Assistant</a:t>
            </a:r>
            <a:endParaRPr lang="en-IN" altLang="en-US" sz="2000" b="1" dirty="0"/>
          </a:p>
          <a:p>
            <a:pPr algn="ctr"/>
            <a:r>
              <a:rPr lang="en-IN" altLang="en-US" sz="2000" b="1" dirty="0"/>
              <a:t>Empathetic AI For Students</a:t>
            </a:r>
            <a:endParaRPr lang="en-IN" altLang="en-US"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dirty="0">
                <a:latin typeface="Bookman Old Style" panose="02050604050505020204" pitchFamily="18" charset="0"/>
                <a:ea typeface="Cambria" panose="02040503050406030204" pitchFamily="18" charset="0"/>
                <a:cs typeface="Cambria" panose="02040503050406030204" pitchFamily="18" charset="0"/>
              </a:rPr>
              <a:t>Outline</a:t>
            </a:r>
            <a:endParaRPr lang="en-US" altLang="en-US" dirty="0">
              <a:latin typeface="Bookman Old Style" panose="02050604050505020204" pitchFamily="18" charset="0"/>
              <a:ea typeface="Cambria" panose="02040503050406030204" pitchFamily="18" charset="0"/>
              <a:cs typeface="Cambria" panose="02040503050406030204" pitchFamily="18" charset="0"/>
            </a:endParaRPr>
          </a:p>
        </p:txBody>
      </p:sp>
      <p:sp>
        <p:nvSpPr>
          <p:cNvPr id="6147" name="Content Placeholder 2"/>
          <p:cNvSpPr>
            <a:spLocks noGrp="1"/>
          </p:cNvSpPr>
          <p:nvPr>
            <p:ph idx="1"/>
          </p:nvPr>
        </p:nvSpPr>
        <p:spPr>
          <a:xfrm>
            <a:off x="749300" y="1170305"/>
            <a:ext cx="4845050" cy="4930775"/>
          </a:xfrm>
        </p:spPr>
        <p:txBody>
          <a:bodyPr/>
          <a:lstStyle/>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Motivation</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lnSpc>
                <a:spcPct val="80000"/>
              </a:lnSpc>
            </a:pPr>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Introduction</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Introduction to Domain</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Abstract</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Problem Statement</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Literature Review</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Methodology</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Architecture </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Flowchart</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Implementation</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Results</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Conclusion</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a:p>
            <a:pPr eaLnBrk="1" hangingPunct="1"/>
            <a:r>
              <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rPr>
              <a:t>References</a:t>
            </a:r>
            <a:endParaRPr lang="en-IN" altLang="en-US" sz="1800" dirty="0">
              <a:solidFill>
                <a:srgbClr val="002060"/>
              </a:solidFill>
              <a:latin typeface="Bookman Old Style" panose="02050604050505020204" pitchFamily="18" charset="0"/>
              <a:ea typeface="Cambria" panose="02040503050406030204" pitchFamily="18" charset="0"/>
              <a:cs typeface="Cambria" panose="02040503050406030204" pitchFamily="18" charset="0"/>
            </a:endParaRPr>
          </a:p>
        </p:txBody>
      </p:sp>
      <p:sp>
        <p:nvSpPr>
          <p:cNvPr id="7173" name="Footer Placeholder 4"/>
          <p:cNvSpPr>
            <a:spLocks noGrp="1"/>
          </p:cNvSpPr>
          <p:nvPr>
            <p:ph type="ftr" sz="quarter" idx="11"/>
          </p:nvPr>
        </p:nvSpPr>
        <p:spPr bwMode="auto">
          <a:ln>
            <a:miter lim="800000"/>
          </a:ln>
        </p:spPr>
        <p:txBody>
          <a:bodyPr wrap="square" numCol="1" anchorCtr="0" compatLnSpc="1"/>
          <a:lstStyle/>
          <a:p>
            <a:pPr fontAlgn="base">
              <a:spcBef>
                <a:spcPct val="0"/>
              </a:spcBef>
              <a:spcAft>
                <a:spcPct val="0"/>
              </a:spcAft>
              <a:defRPr/>
            </a:pPr>
            <a:r>
              <a:rPr lang="en-US" altLang="en-US" dirty="0"/>
              <a:t>© BVRIT CSE(AI &amp; ML)</a:t>
            </a:r>
            <a:endParaRPr lang="en-US" altLang="en-US" dirty="0"/>
          </a:p>
        </p:txBody>
      </p:sp>
      <p:sp>
        <p:nvSpPr>
          <p:cNvPr id="6150" name="Slide Number Placeholder 5"/>
          <p:cNvSpPr>
            <a:spLocks noGrp="1"/>
          </p:cNvSpPr>
          <p:nvPr>
            <p:ph type="sldNum" sz="quarter" idx="12"/>
          </p:nvPr>
        </p:nvSpPr>
        <p:spPr bwMode="auto">
          <a:noFill/>
          <a:ln>
            <a:miter lim="800000"/>
          </a:ln>
        </p:spPr>
        <p:txBody>
          <a:bodyPr/>
          <a:lstStyle/>
          <a:p>
            <a:fld id="{DA074DF7-47DB-46BB-AFC0-963A22437EAC}" type="slidenum">
              <a:rPr lang="en-US" altLang="en-US"/>
            </a:fld>
            <a:endParaRPr lang="en-US" altLang="en-US" dirty="0"/>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6530686" y="2199005"/>
            <a:ext cx="4915478" cy="2691765"/>
          </a:xfrm>
          <a:prstGeom prst="rect">
            <a:avLst/>
          </a:prstGeom>
        </p:spPr>
      </p:pic>
      <p:sp>
        <p:nvSpPr>
          <p:cNvPr id="3" name="Date Placeholder 2"/>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600" dirty="0"/>
              <a:t>MOTIVATION</a:t>
            </a:r>
            <a:endParaRPr lang="en-IN" sz="2600" dirty="0"/>
          </a:p>
        </p:txBody>
      </p:sp>
      <p:sp>
        <p:nvSpPr>
          <p:cNvPr id="5" name="Footer Placeholder 4"/>
          <p:cNvSpPr>
            <a:spLocks noGrp="1"/>
          </p:cNvSpPr>
          <p:nvPr>
            <p:ph type="ftr" sz="quarter" idx="11"/>
          </p:nvPr>
        </p:nvSpPr>
        <p:spPr>
          <a:xfrm>
            <a:off x="4038600" y="6356350"/>
            <a:ext cx="4114800" cy="365125"/>
          </a:xfrm>
        </p:spPr>
        <p:txBody>
          <a:bodyPr/>
          <a:lstStyle/>
          <a:p>
            <a:pPr>
              <a:defRPr/>
            </a:pPr>
            <a:r>
              <a:rPr lang="en-US" dirty="0"/>
              <a:t>© BVRIT CSE(AI &amp; ML)</a:t>
            </a:r>
            <a:endParaRPr lang="en-US" dirty="0"/>
          </a:p>
        </p:txBody>
      </p:sp>
      <p:sp>
        <p:nvSpPr>
          <p:cNvPr id="6" name="Slide Number Placeholder 5"/>
          <p:cNvSpPr>
            <a:spLocks noGrp="1"/>
          </p:cNvSpPr>
          <p:nvPr>
            <p:ph type="sldNum" sz="quarter" idx="12"/>
          </p:nvPr>
        </p:nvSpPr>
        <p:spPr/>
        <p:txBody>
          <a:bodyPr/>
          <a:lstStyle/>
          <a:p>
            <a:pPr>
              <a:defRPr/>
            </a:pPr>
            <a:fld id="{2D96E056-3901-41CB-802B-E67DADB7F3B2}" type="slidenum">
              <a:rPr lang="en-US" altLang="en-US" smtClean="0"/>
            </a:fld>
            <a:endParaRPr lang="en-US" altLang="en-US" dirty="0"/>
          </a:p>
        </p:txBody>
      </p:sp>
      <p:sp>
        <p:nvSpPr>
          <p:cNvPr id="4" name="Rectangle 1"/>
          <p:cNvSpPr>
            <a:spLocks noGrp="1" noChangeArrowheads="1"/>
          </p:cNvSpPr>
          <p:nvPr>
            <p:ph idx="1"/>
          </p:nvPr>
        </p:nvSpPr>
        <p:spPr bwMode="auto">
          <a:xfrm>
            <a:off x="0" y="1690968"/>
            <a:ext cx="7331825" cy="3830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150000"/>
              </a:lnSpc>
              <a:spcBef>
                <a:spcPct val="0"/>
              </a:spcBef>
            </a:pPr>
            <a:r>
              <a:rPr lang="en-US" altLang="en-US" sz="1800" dirty="0">
                <a:latin typeface="Bookman Old Style" panose="02050604050505020204" pitchFamily="18" charset="0"/>
              </a:rPr>
              <a:t>Emotion-aware voice assistants detect and respond to emotions, enabling personalized interactions that meet individual needs.</a:t>
            </a:r>
            <a:endParaRPr lang="en-US" altLang="en-US" sz="1800" dirty="0">
              <a:latin typeface="Bookman Old Style" panose="02050604050505020204" pitchFamily="18" charset="0"/>
            </a:endParaRPr>
          </a:p>
          <a:p>
            <a:pPr>
              <a:lnSpc>
                <a:spcPct val="150000"/>
              </a:lnSpc>
              <a:spcBef>
                <a:spcPct val="0"/>
              </a:spcBef>
            </a:pPr>
            <a:r>
              <a:rPr lang="en-US" altLang="en-US" sz="1800" dirty="0">
                <a:latin typeface="Bookman Old Style" panose="02050604050505020204" pitchFamily="18" charset="0"/>
              </a:rPr>
              <a:t>Students with ADHD often struggle with focus, organization, and completing tasks.</a:t>
            </a:r>
            <a:endParaRPr lang="en-US" altLang="en-US" sz="1800" dirty="0">
              <a:latin typeface="Bookman Old Style" panose="02050604050505020204" pitchFamily="18" charset="0"/>
            </a:endParaRPr>
          </a:p>
          <a:p>
            <a:pPr>
              <a:lnSpc>
                <a:spcPct val="150000"/>
              </a:lnSpc>
              <a:spcBef>
                <a:spcPct val="0"/>
              </a:spcBef>
            </a:pPr>
            <a:r>
              <a:rPr lang="en-US" altLang="en-US" sz="1800" dirty="0">
                <a:latin typeface="Bookman Old Style" panose="02050604050505020204" pitchFamily="18" charset="0"/>
              </a:rPr>
              <a:t>An emotion-aware study assistant offers structure and support, reducing anxiety and boosting focus.</a:t>
            </a:r>
            <a:r>
              <a:rPr lang="en-US" sz="1800" dirty="0">
                <a:latin typeface="Bookman Old Style" panose="02050604050505020204" pitchFamily="18" charset="0"/>
              </a:rPr>
              <a:t> </a:t>
            </a:r>
            <a:endParaRPr lang="en-US" sz="1800" dirty="0">
              <a:latin typeface="Bookman Old Style" panose="02050604050505020204" pitchFamily="18" charset="0"/>
            </a:endParaRPr>
          </a:p>
          <a:p>
            <a:pPr>
              <a:lnSpc>
                <a:spcPct val="150000"/>
              </a:lnSpc>
              <a:spcBef>
                <a:spcPct val="0"/>
              </a:spcBef>
            </a:pPr>
            <a:r>
              <a:rPr kumimoji="0" lang="en-US" altLang="en-US" sz="1800" b="0" i="0" u="none" strike="noStrike" cap="none" normalizeH="0" baseline="0" dirty="0">
                <a:ln>
                  <a:noFill/>
                </a:ln>
                <a:solidFill>
                  <a:schemeClr val="tx1"/>
                </a:solidFill>
                <a:effectLst/>
                <a:latin typeface="Bookman Old Style" panose="02050604050505020204" pitchFamily="18" charset="0"/>
              </a:rPr>
              <a:t>Traditional classrooms can worsen these challenges, causing more off-task behavior and lower engagement.</a:t>
            </a:r>
            <a:endParaRPr kumimoji="0" lang="en-US" altLang="en-US" sz="1800" b="0" i="0" u="none" strike="noStrike" cap="none" normalizeH="0" baseline="0" dirty="0">
              <a:ln>
                <a:noFill/>
              </a:ln>
              <a:solidFill>
                <a:schemeClr val="tx1"/>
              </a:solidFill>
              <a:effectLst/>
              <a:latin typeface="Bookman Old Style" panose="02050604050505020204" pitchFamily="18" charset="0"/>
            </a:endParaRPr>
          </a:p>
        </p:txBody>
      </p:sp>
      <p:pic>
        <p:nvPicPr>
          <p:cNvPr id="10" name="Picture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7437259" y="1968569"/>
            <a:ext cx="4381325" cy="2920883"/>
          </a:xfrm>
          <a:prstGeom prst="rect">
            <a:avLst/>
          </a:prstGeom>
          <a:ln w="28575">
            <a:solidFill>
              <a:schemeClr val="tx1"/>
            </a:solidFill>
          </a:ln>
        </p:spPr>
      </p:pic>
      <p:sp>
        <p:nvSpPr>
          <p:cNvPr id="3" name="Date Placeholder 2"/>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Footer Placeholder 4"/>
          <p:cNvSpPr>
            <a:spLocks noGrp="1"/>
          </p:cNvSpPr>
          <p:nvPr>
            <p:ph type="ftr" sz="quarter" idx="11"/>
          </p:nvPr>
        </p:nvSpPr>
        <p:spPr bwMode="auto">
          <a:ln>
            <a:miter lim="800000"/>
          </a:ln>
        </p:spPr>
        <p:txBody>
          <a:bodyPr wrap="square" numCol="1" anchorCtr="0" compatLnSpc="1"/>
          <a:lstStyle/>
          <a:p>
            <a:pPr fontAlgn="base">
              <a:spcBef>
                <a:spcPct val="0"/>
              </a:spcBef>
              <a:spcAft>
                <a:spcPct val="0"/>
              </a:spcAft>
              <a:defRPr/>
            </a:pPr>
            <a:r>
              <a:rPr lang="en-US" altLang="en-US" dirty="0"/>
              <a:t>© BVRIT CSE(AI &amp; ML)</a:t>
            </a:r>
            <a:endParaRPr lang="en-US" altLang="en-US" dirty="0"/>
          </a:p>
        </p:txBody>
      </p:sp>
      <p:sp>
        <p:nvSpPr>
          <p:cNvPr id="9221" name="Slide Number Placeholder 5"/>
          <p:cNvSpPr>
            <a:spLocks noGrp="1"/>
          </p:cNvSpPr>
          <p:nvPr>
            <p:ph type="sldNum" sz="quarter" idx="12"/>
          </p:nvPr>
        </p:nvSpPr>
        <p:spPr bwMode="auto">
          <a:noFill/>
          <a:ln>
            <a:miter lim="800000"/>
          </a:ln>
        </p:spPr>
        <p:txBody>
          <a:bodyPr/>
          <a:lstStyle/>
          <a:p>
            <a:fld id="{9BA95D20-3DD7-486C-BDED-39A628F8F61B}" type="slidenum">
              <a:rPr lang="en-US" altLang="en-US"/>
            </a:fld>
            <a:endParaRPr lang="en-US" altLang="en-US" dirty="0"/>
          </a:p>
        </p:txBody>
      </p:sp>
      <p:sp>
        <p:nvSpPr>
          <p:cNvPr id="3" name="Title 2"/>
          <p:cNvSpPr>
            <a:spLocks noGrp="1"/>
          </p:cNvSpPr>
          <p:nvPr>
            <p:ph type="title"/>
          </p:nvPr>
        </p:nvSpPr>
        <p:spPr/>
        <p:txBody>
          <a:bodyPr/>
          <a:lstStyle/>
          <a:p>
            <a:r>
              <a:rPr lang="en-IN" sz="2600" dirty="0">
                <a:latin typeface="Bookman Old Style" panose="02050604050505020204" pitchFamily="18" charset="0"/>
                <a:ea typeface="Cambria" panose="02040503050406030204" pitchFamily="18" charset="0"/>
              </a:rPr>
              <a:t>INTRODUCTION </a:t>
            </a:r>
            <a:endParaRPr lang="en-IN" sz="2600" dirty="0">
              <a:latin typeface="Bookman Old Style" panose="02050604050505020204" pitchFamily="18" charset="0"/>
              <a:ea typeface="Cambria" panose="02040503050406030204" pitchFamily="18" charset="0"/>
            </a:endParaRPr>
          </a:p>
        </p:txBody>
      </p:sp>
      <p:sp>
        <p:nvSpPr>
          <p:cNvPr id="4" name="Rectangle 1"/>
          <p:cNvSpPr>
            <a:spLocks noChangeArrowheads="1"/>
          </p:cNvSpPr>
          <p:nvPr/>
        </p:nvSpPr>
        <p:spPr bwMode="auto">
          <a:xfrm>
            <a:off x="190500" y="919663"/>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0"/>
            <a:ext cx="25781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223605" y="1255452"/>
            <a:ext cx="587239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algn="just"/>
            <a:endParaRPr kumimoji="0" lang="en-US" altLang="en-US" b="0" i="0" u="none" strike="noStrike" cap="none" normalizeH="0" baseline="0" dirty="0">
              <a:ln>
                <a:noFill/>
              </a:ln>
              <a:solidFill>
                <a:schemeClr val="tx1"/>
              </a:solidFill>
              <a:effectLst/>
            </a:endParaRPr>
          </a:p>
          <a:p>
            <a:pPr marL="285750" indent="-285750" algn="just">
              <a:buFont typeface="Arial" panose="020B0604020202020204" pitchFamily="34" charset="0"/>
              <a:buChar char="•"/>
            </a:pPr>
            <a:endParaRPr kumimoji="0" lang="en-US" altLang="en-US" sz="1800" b="0" i="0" u="none" strike="noStrike" cap="none" normalizeH="0" baseline="0" dirty="0">
              <a:ln>
                <a:noFill/>
              </a:ln>
              <a:solidFill>
                <a:schemeClr val="tx1"/>
              </a:solidFill>
              <a:effectLst/>
            </a:endParaRPr>
          </a:p>
        </p:txBody>
      </p:sp>
      <p:sp>
        <p:nvSpPr>
          <p:cNvPr id="8" name="Rectangle 4"/>
          <p:cNvSpPr>
            <a:spLocks noChangeArrowheads="1"/>
          </p:cNvSpPr>
          <p:nvPr/>
        </p:nvSpPr>
        <p:spPr bwMode="auto">
          <a:xfrm>
            <a:off x="152400" y="152400"/>
            <a:ext cx="25781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351155" y="1255395"/>
            <a:ext cx="11323955" cy="4309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cs typeface="Bookman Old Style" panose="02050604050505020204" pitchFamily="18" charset="0"/>
              </a:rPr>
              <a:t>The Voice Activated Emotion-Based Study Assistant is an interactive tool built to support </a:t>
            </a:r>
            <a:r>
              <a:rPr kumimoji="0" lang="en-IN" altLang="en-US" sz="1800" b="0" i="0" u="none" strike="noStrike" cap="none" normalizeH="0" baseline="0" dirty="0">
                <a:ln>
                  <a:noFill/>
                </a:ln>
                <a:solidFill>
                  <a:schemeClr val="tx1"/>
                </a:solidFill>
                <a:effectLst/>
                <a:cs typeface="Bookman Old Style" panose="02050604050505020204" pitchFamily="18" charset="0"/>
              </a:rPr>
              <a:t>    </a:t>
            </a:r>
            <a:r>
              <a:rPr kumimoji="0" lang="en-US" altLang="en-US" sz="1800" b="0" i="0" u="none" strike="noStrike" cap="none" normalizeH="0" baseline="0" dirty="0">
                <a:ln>
                  <a:noFill/>
                </a:ln>
                <a:solidFill>
                  <a:schemeClr val="tx1"/>
                </a:solidFill>
                <a:effectLst/>
                <a:cs typeface="Bookman Old Style" panose="02050604050505020204" pitchFamily="18" charset="0"/>
              </a:rPr>
              <a:t>students both academically and emotionally</a:t>
            </a:r>
            <a:endParaRPr kumimoji="0" lang="en-US" altLang="en-US" sz="1800" b="0" i="0" u="none" strike="noStrike" cap="none" normalizeH="0" baseline="0" dirty="0">
              <a:ln>
                <a:noFill/>
              </a:ln>
              <a:solidFill>
                <a:schemeClr val="tx1"/>
              </a:solidFill>
              <a:effectLst/>
              <a:cs typeface="Bookman Old Style" panose="020506040505050202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cs typeface="Bookman Old Style" panose="02050604050505020204" pitchFamily="18" charset="0"/>
              </a:rPr>
              <a:t>It allows users to input queries through voice or text, analyzes the emotional tone of the input, and responds accordingly.</a:t>
            </a:r>
            <a:endParaRPr kumimoji="0" lang="en-US" altLang="en-US" sz="1800" b="0" i="0" u="none" strike="noStrike" cap="none" normalizeH="0" baseline="0" dirty="0">
              <a:ln>
                <a:noFill/>
              </a:ln>
              <a:solidFill>
                <a:schemeClr val="tx1"/>
              </a:solidFill>
              <a:effectLst/>
              <a:cs typeface="Bookman Old Style" panose="020506040505050202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cs typeface="Bookman Old Style" panose="02050604050505020204" pitchFamily="18" charset="0"/>
              </a:rPr>
              <a:t>If signs of stress or low motivation are detected, the assistant first provides moral support.</a:t>
            </a:r>
            <a:endParaRPr kumimoji="0" lang="en-US" altLang="en-US" sz="1800" b="0" i="0" u="none" strike="noStrike" cap="none" normalizeH="0" baseline="0" dirty="0">
              <a:ln>
                <a:noFill/>
              </a:ln>
              <a:solidFill>
                <a:schemeClr val="tx1"/>
              </a:solidFill>
              <a:effectLst/>
              <a:cs typeface="Bookman Old Style" panose="020506040505050202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cs typeface="Bookman Old Style" panose="02050604050505020204" pitchFamily="18" charset="0"/>
              </a:rPr>
              <a:t>Once the student is emotionally ready, it delivers relevant study material, explanations, and learning tips.</a:t>
            </a:r>
            <a:endParaRPr kumimoji="0" lang="en-US" altLang="en-US" sz="1800" b="0" i="0" u="none" strike="noStrike" cap="none" normalizeH="0" baseline="0" dirty="0">
              <a:ln>
                <a:noFill/>
              </a:ln>
              <a:solidFill>
                <a:schemeClr val="tx1"/>
              </a:solidFill>
              <a:effectLst/>
              <a:cs typeface="Bookman Old Style" panose="020506040505050202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cs typeface="Bookman Old Style" panose="02050604050505020204" pitchFamily="18" charset="0"/>
              </a:rPr>
              <a:t>This approach makes learning more personalized and effective, especially for students facing challenges like ADHD or difficulty focusing.</a:t>
            </a:r>
            <a:endParaRPr kumimoji="0" lang="en-US" altLang="en-US" sz="1800" b="0" i="0" u="none" strike="noStrike" cap="none" normalizeH="0" baseline="0" dirty="0">
              <a:ln>
                <a:noFill/>
              </a:ln>
              <a:solidFill>
                <a:schemeClr val="tx1"/>
              </a:solidFill>
              <a:effectLst/>
              <a:cs typeface="Bookman Old Style" panose="02050604050505020204" pitchFamily="18" charset="0"/>
            </a:endParaRPr>
          </a:p>
        </p:txBody>
      </p:sp>
      <p:sp>
        <p:nvSpPr>
          <p:cNvPr id="2" name="Date Placeholder 1"/>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INTRODUCTION TO DOMAIN</a:t>
            </a:r>
            <a:endParaRPr lang="en-IN" altLang="en-US"/>
          </a:p>
        </p:txBody>
      </p:sp>
      <p:sp>
        <p:nvSpPr>
          <p:cNvPr id="3" name="Content Placeholder 2"/>
          <p:cNvSpPr>
            <a:spLocks noGrp="1"/>
          </p:cNvSpPr>
          <p:nvPr>
            <p:ph idx="1"/>
          </p:nvPr>
        </p:nvSpPr>
        <p:spPr>
          <a:xfrm>
            <a:off x="139065" y="1090930"/>
            <a:ext cx="11769090" cy="4817745"/>
          </a:xfrm>
        </p:spPr>
        <p:txBody>
          <a:bodyPr/>
          <a:p>
            <a:pPr marL="0" indent="0">
              <a:buNone/>
            </a:pPr>
            <a:r>
              <a:rPr lang="en-US" altLang="en-US" sz="2400" b="1"/>
              <a:t>Speech and Natural Language Processing</a:t>
            </a:r>
            <a:endParaRPr lang="en-US" altLang="en-US" sz="2400" b="1"/>
          </a:p>
          <a:p>
            <a:pPr>
              <a:lnSpc>
                <a:spcPct val="150000"/>
              </a:lnSpc>
            </a:pPr>
            <a:r>
              <a:rPr lang="en-US" altLang="en-US" sz="1800"/>
              <a:t>Speech and Natural Language Processing (NLP) is a field of Artificial Intelligence that enables machines to understand, interpret, and respond to human language in a natural way. </a:t>
            </a:r>
            <a:endParaRPr lang="en-US" altLang="en-US" sz="1800"/>
          </a:p>
          <a:p>
            <a:pPr>
              <a:lnSpc>
                <a:spcPct val="150000"/>
              </a:lnSpc>
            </a:pPr>
            <a:r>
              <a:rPr lang="en-US" altLang="en-US" sz="1800"/>
              <a:t>It combines computational linguistics with machine learning to process both spoken and written language. </a:t>
            </a:r>
            <a:endParaRPr lang="en-US" altLang="en-US" sz="1800"/>
          </a:p>
          <a:p>
            <a:pPr>
              <a:lnSpc>
                <a:spcPct val="150000"/>
              </a:lnSpc>
            </a:pPr>
            <a:r>
              <a:rPr lang="en-US" altLang="en-US" sz="1800"/>
              <a:t>From voice assistants to sentiment analysis, this domain plays a vital role in creating intelligent systems that can interact with users more intuitively.</a:t>
            </a:r>
            <a:endParaRPr lang="en-US" altLang="en-US" sz="1800"/>
          </a:p>
          <a:p>
            <a:pPr>
              <a:lnSpc>
                <a:spcPct val="150000"/>
              </a:lnSpc>
            </a:pPr>
            <a:r>
              <a:rPr lang="en-US" altLang="en-US" sz="1800"/>
              <a:t> In this project, speech recognition and emotion detection are key NLP components used to build a more personalized and empathetic learning experience.</a:t>
            </a:r>
            <a:endParaRPr lang="en-US" altLang="en-US" sz="1800"/>
          </a:p>
        </p:txBody>
      </p:sp>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
        <p:nvSpPr>
          <p:cNvPr id="5" name="Footer Placeholder 4"/>
          <p:cNvSpPr>
            <a:spLocks noGrp="1"/>
          </p:cNvSpPr>
          <p:nvPr>
            <p:ph type="ftr" sz="quarter" idx="11"/>
          </p:nvPr>
        </p:nvSpPr>
        <p:spPr/>
        <p:txBody>
          <a:bodyPr/>
          <a:p>
            <a:pPr>
              <a:defRPr/>
            </a:pPr>
            <a:r>
              <a:rPr lang="en-US" dirty="0"/>
              <a:t>© BVRIT CSE(AI &amp; ML)</a:t>
            </a:r>
            <a:endParaRPr lang="en-US" dirty="0"/>
          </a:p>
        </p:txBody>
      </p:sp>
      <p:sp>
        <p:nvSpPr>
          <p:cNvPr id="6" name="Slide Number Placeholder 5"/>
          <p:cNvSpPr>
            <a:spLocks noGrp="1"/>
          </p:cNvSpPr>
          <p:nvPr>
            <p:ph type="sldNum" sz="quarter" idx="12"/>
          </p:nvPr>
        </p:nvSpPr>
        <p:spPr/>
        <p:txBody>
          <a:bodyPr/>
          <a:p>
            <a:pPr>
              <a:defRPr/>
            </a:pPr>
            <a:fld id="{2D96E056-3901-41CB-802B-E67DADB7F3B2}" type="slidenum">
              <a:rPr lang="en-US" altLang="en-US"/>
            </a:fld>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ABSTRACT</a:t>
            </a:r>
            <a:endParaRPr lang="en-IN" altLang="en-US"/>
          </a:p>
        </p:txBody>
      </p:sp>
      <p:sp>
        <p:nvSpPr>
          <p:cNvPr id="3" name="Content Placeholder 2"/>
          <p:cNvSpPr>
            <a:spLocks noGrp="1"/>
          </p:cNvSpPr>
          <p:nvPr>
            <p:ph idx="1"/>
          </p:nvPr>
        </p:nvSpPr>
        <p:spPr>
          <a:xfrm>
            <a:off x="281940" y="1538605"/>
            <a:ext cx="11461115" cy="4817745"/>
          </a:xfrm>
        </p:spPr>
        <p:txBody>
          <a:bodyPr/>
          <a:p>
            <a:pPr marL="0" indent="0" algn="just">
              <a:lnSpc>
                <a:spcPct val="150000"/>
              </a:lnSpc>
              <a:buNone/>
            </a:pPr>
            <a:r>
              <a:rPr lang="en-US" altLang="en-US" sz="1800"/>
              <a:t>The Voice-Activated Emotion-Based Study Assistant is a smart tool that helps students with both learning and emotions. It allows users to speak or type their questions, and the assistant understands not just the words but also how the student is feeling. If the student sounds stressed, sad, or unmotivated, the assistant gives motivational messages to help them feel better. When the student is ready, it provides study materials like notes, formulas, and explanations by checking the topic they mentioned. It can also turn voice into text, making it easier to take notes without typing. The goal of this project is to make studying more helpful, comfortable, and personal by supporting both the mind and the mood of the student.</a:t>
            </a:r>
            <a:endParaRPr lang="en-US" altLang="en-US" sz="1800"/>
          </a:p>
        </p:txBody>
      </p:sp>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
        <p:nvSpPr>
          <p:cNvPr id="5" name="Footer Placeholder 4"/>
          <p:cNvSpPr>
            <a:spLocks noGrp="1"/>
          </p:cNvSpPr>
          <p:nvPr>
            <p:ph type="ftr" sz="quarter" idx="11"/>
          </p:nvPr>
        </p:nvSpPr>
        <p:spPr/>
        <p:txBody>
          <a:bodyPr/>
          <a:p>
            <a:pPr>
              <a:defRPr/>
            </a:pPr>
            <a:r>
              <a:rPr lang="en-US" dirty="0"/>
              <a:t>© BVRIT CSE(AI &amp; ML)</a:t>
            </a:r>
            <a:endParaRPr lang="en-US" dirty="0"/>
          </a:p>
        </p:txBody>
      </p:sp>
      <p:sp>
        <p:nvSpPr>
          <p:cNvPr id="6" name="Slide Number Placeholder 5"/>
          <p:cNvSpPr>
            <a:spLocks noGrp="1"/>
          </p:cNvSpPr>
          <p:nvPr>
            <p:ph type="sldNum" sz="quarter" idx="12"/>
          </p:nvPr>
        </p:nvSpPr>
        <p:spPr/>
        <p:txBody>
          <a:bodyPr/>
          <a:p>
            <a:pPr>
              <a:defRPr/>
            </a:pPr>
            <a:fld id="{2D96E056-3901-41CB-802B-E67DADB7F3B2}" type="slidenum">
              <a:rPr lang="en-US" altLang="en-US"/>
            </a:fld>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28713" y="218123"/>
            <a:ext cx="9767887" cy="595312"/>
          </a:xfrm>
        </p:spPr>
        <p:txBody>
          <a:bodyPr/>
          <a:p>
            <a:r>
              <a:rPr lang="en-IN" altLang="en-US"/>
              <a:t>PROBLEM STATEMENT</a:t>
            </a:r>
            <a:endParaRPr lang="en-IN" altLang="en-US"/>
          </a:p>
        </p:txBody>
      </p:sp>
      <p:sp>
        <p:nvSpPr>
          <p:cNvPr id="3" name="Content Placeholder 2"/>
          <p:cNvSpPr>
            <a:spLocks noGrp="1"/>
          </p:cNvSpPr>
          <p:nvPr>
            <p:ph idx="1"/>
          </p:nvPr>
        </p:nvSpPr>
        <p:spPr>
          <a:xfrm>
            <a:off x="1128713" y="919798"/>
            <a:ext cx="9767887" cy="4818062"/>
          </a:xfrm>
        </p:spPr>
        <p:txBody>
          <a:bodyPr/>
          <a:p>
            <a:pPr marL="0" indent="0" algn="ctr">
              <a:buNone/>
            </a:pPr>
            <a:r>
              <a:rPr lang="en-US" altLang="en-US" sz="2200"/>
              <a:t>.</a:t>
            </a:r>
            <a:endParaRPr lang="en-US" altLang="en-US" sz="2200"/>
          </a:p>
        </p:txBody>
      </p:sp>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
        <p:nvSpPr>
          <p:cNvPr id="5" name="Footer Placeholder 4"/>
          <p:cNvSpPr>
            <a:spLocks noGrp="1"/>
          </p:cNvSpPr>
          <p:nvPr>
            <p:ph type="ftr" sz="quarter" idx="11"/>
          </p:nvPr>
        </p:nvSpPr>
        <p:spPr/>
        <p:txBody>
          <a:bodyPr/>
          <a:p>
            <a:pPr>
              <a:defRPr/>
            </a:pPr>
            <a:r>
              <a:rPr lang="en-US" dirty="0"/>
              <a:t>© BVRIT CSE(AI &amp; ML)</a:t>
            </a:r>
            <a:endParaRPr lang="en-US" dirty="0"/>
          </a:p>
        </p:txBody>
      </p:sp>
      <p:sp>
        <p:nvSpPr>
          <p:cNvPr id="6" name="Slide Number Placeholder 5"/>
          <p:cNvSpPr>
            <a:spLocks noGrp="1"/>
          </p:cNvSpPr>
          <p:nvPr>
            <p:ph type="sldNum" sz="quarter" idx="12"/>
          </p:nvPr>
        </p:nvSpPr>
        <p:spPr/>
        <p:txBody>
          <a:bodyPr/>
          <a:p>
            <a:pPr>
              <a:defRPr/>
            </a:pPr>
            <a:fld id="{2D96E056-3901-41CB-802B-E67DADB7F3B2}" type="slidenum">
              <a:rPr lang="en-US" altLang="en-US"/>
            </a:fld>
            <a:endParaRPr lang="en-US" altLang="en-US" dirty="0"/>
          </a:p>
        </p:txBody>
      </p:sp>
      <p:sp>
        <p:nvSpPr>
          <p:cNvPr id="7" name="Text Box 6"/>
          <p:cNvSpPr txBox="1"/>
          <p:nvPr/>
        </p:nvSpPr>
        <p:spPr>
          <a:xfrm>
            <a:off x="693420" y="2691130"/>
            <a:ext cx="10660380" cy="1198880"/>
          </a:xfrm>
          <a:prstGeom prst="rect">
            <a:avLst/>
          </a:prstGeom>
          <a:noFill/>
        </p:spPr>
        <p:txBody>
          <a:bodyPr wrap="square" rtlCol="0">
            <a:spAutoFit/>
          </a:bodyPr>
          <a:p>
            <a:pPr algn="just"/>
            <a:r>
              <a:rPr lang="en-US" altLang="en-US" sz="1800"/>
              <a:t>Students—especially those with ADHD or emotional challenges—often struggle to stay focused and motivated using traditional study tools. This highlights the urgent need for an adaptive assistant that combines emotional support with academic guidance in a personalized and engaging way.</a:t>
            </a:r>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600" dirty="0"/>
              <a:t>LITERATURE REVIEW</a:t>
            </a:r>
            <a:endParaRPr lang="en-US" sz="2600" dirty="0"/>
          </a:p>
        </p:txBody>
      </p:sp>
      <p:sp>
        <p:nvSpPr>
          <p:cNvPr id="5" name="Footer Placeholder 4"/>
          <p:cNvSpPr>
            <a:spLocks noGrp="1"/>
          </p:cNvSpPr>
          <p:nvPr>
            <p:ph type="ftr" sz="quarter" idx="11"/>
          </p:nvPr>
        </p:nvSpPr>
        <p:spPr/>
        <p:txBody>
          <a:bodyPr/>
          <a:lstStyle/>
          <a:p>
            <a:pPr>
              <a:defRPr/>
            </a:pPr>
            <a:r>
              <a:rPr lang="en-US" dirty="0"/>
              <a:t>© BVRIT CSE(AI &amp; ML)</a:t>
            </a:r>
            <a:endParaRPr lang="en-US" dirty="0"/>
          </a:p>
        </p:txBody>
      </p:sp>
      <p:sp>
        <p:nvSpPr>
          <p:cNvPr id="6" name="Slide Number Placeholder 5"/>
          <p:cNvSpPr>
            <a:spLocks noGrp="1"/>
          </p:cNvSpPr>
          <p:nvPr>
            <p:ph type="sldNum" sz="quarter" idx="12"/>
          </p:nvPr>
        </p:nvSpPr>
        <p:spPr/>
        <p:txBody>
          <a:bodyPr/>
          <a:lstStyle/>
          <a:p>
            <a:pPr>
              <a:defRPr/>
            </a:pPr>
            <a:fld id="{2D96E056-3901-41CB-802B-E67DADB7F3B2}" type="slidenum">
              <a:rPr lang="en-US" altLang="en-US" smtClean="0"/>
            </a:fld>
            <a:endParaRPr lang="en-US" altLang="en-US" dirty="0"/>
          </a:p>
        </p:txBody>
      </p:sp>
      <p:graphicFrame>
        <p:nvGraphicFramePr>
          <p:cNvPr id="8" name="Table 7"/>
          <p:cNvGraphicFramePr>
            <a:graphicFrameLocks noGrp="1"/>
          </p:cNvGraphicFramePr>
          <p:nvPr>
            <p:custDataLst>
              <p:tags r:id="rId1"/>
            </p:custDataLst>
          </p:nvPr>
        </p:nvGraphicFramePr>
        <p:xfrm>
          <a:off x="292735" y="1097280"/>
          <a:ext cx="11324590" cy="3919855"/>
        </p:xfrm>
        <a:graphic>
          <a:graphicData uri="http://schemas.openxmlformats.org/drawingml/2006/table">
            <a:tbl>
              <a:tblPr firstRow="1" bandRow="1">
                <a:tableStyleId>{5C22544A-7EE6-4342-B048-85BDC9FD1C3A}</a:tableStyleId>
              </a:tblPr>
              <a:tblGrid>
                <a:gridCol w="801370"/>
                <a:gridCol w="1537335"/>
                <a:gridCol w="3245485"/>
                <a:gridCol w="1884045"/>
                <a:gridCol w="1987550"/>
                <a:gridCol w="1868805"/>
              </a:tblGrid>
              <a:tr h="579120">
                <a:tc>
                  <a:txBody>
                    <a:bodyPr/>
                    <a:lstStyle/>
                    <a:p>
                      <a:r>
                        <a:rPr lang="en-US" sz="1600" dirty="0"/>
                        <a:t>S.no.</a:t>
                      </a:r>
                      <a:endParaRPr lang="en-IN" sz="1600" dirty="0"/>
                    </a:p>
                  </a:txBody>
                  <a:tcPr/>
                </a:tc>
                <a:tc>
                  <a:txBody>
                    <a:bodyPr/>
                    <a:lstStyle/>
                    <a:p>
                      <a:r>
                        <a:rPr lang="en-IN" sz="1600" dirty="0"/>
                        <a:t>Year of publication</a:t>
                      </a:r>
                      <a:endParaRPr lang="en-IN" sz="1600" dirty="0"/>
                    </a:p>
                  </a:txBody>
                  <a:tcPr/>
                </a:tc>
                <a:tc>
                  <a:txBody>
                    <a:bodyPr/>
                    <a:lstStyle/>
                    <a:p>
                      <a:r>
                        <a:rPr lang="en-US" sz="1600" dirty="0"/>
                        <a:t>Title of paper with author name</a:t>
                      </a:r>
                      <a:endParaRPr lang="en-IN" sz="1600" dirty="0"/>
                    </a:p>
                  </a:txBody>
                  <a:tcPr/>
                </a:tc>
                <a:tc>
                  <a:txBody>
                    <a:bodyPr/>
                    <a:lstStyle/>
                    <a:p>
                      <a:r>
                        <a:rPr lang="en-IN" sz="1600" dirty="0"/>
                        <a:t>Objectives</a:t>
                      </a:r>
                      <a:endParaRPr lang="en-IN" sz="1600" dirty="0"/>
                    </a:p>
                  </a:txBody>
                  <a:tcPr/>
                </a:tc>
                <a:tc>
                  <a:txBody>
                    <a:bodyPr/>
                    <a:lstStyle/>
                    <a:p>
                      <a:r>
                        <a:rPr lang="en-IN" sz="1600" dirty="0"/>
                        <a:t>Methods /Approach</a:t>
                      </a:r>
                      <a:endParaRPr lang="en-IN" sz="1600" dirty="0"/>
                    </a:p>
                  </a:txBody>
                  <a:tcPr/>
                </a:tc>
                <a:tc>
                  <a:txBody>
                    <a:bodyPr/>
                    <a:lstStyle/>
                    <a:p>
                      <a:r>
                        <a:rPr lang="en-IN" sz="1600" dirty="0"/>
                        <a:t>Inference</a:t>
                      </a:r>
                      <a:endParaRPr lang="en-IN" sz="1600" dirty="0"/>
                    </a:p>
                  </a:txBody>
                  <a:tcPr/>
                </a:tc>
              </a:tr>
              <a:tr h="2992755">
                <a:tc>
                  <a:txBody>
                    <a:bodyPr/>
                    <a:lstStyle/>
                    <a:p>
                      <a:r>
                        <a:rPr lang="en-US" sz="1800" dirty="0">
                          <a:cs typeface="+mn-lt"/>
                        </a:rPr>
                        <a:t>1</a:t>
                      </a:r>
                      <a:r>
                        <a:rPr lang="en-IN" altLang="en-US" sz="1800" dirty="0">
                          <a:cs typeface="+mn-lt"/>
                        </a:rPr>
                        <a:t>.</a:t>
                      </a:r>
                      <a:endParaRPr lang="en-IN" altLang="en-US" sz="1800" dirty="0">
                        <a:cs typeface="+mn-lt"/>
                      </a:endParaRPr>
                    </a:p>
                  </a:txBody>
                  <a:tcPr/>
                </a:tc>
                <a:tc>
                  <a:txBody>
                    <a:bodyPr/>
                    <a:lstStyle/>
                    <a:p>
                      <a:r>
                        <a:rPr lang="en-US" sz="1800" dirty="0">
                          <a:cs typeface="+mn-lt"/>
                        </a:rPr>
                        <a:t>20</a:t>
                      </a:r>
                      <a:r>
                        <a:rPr lang="en-IN" altLang="en-US" sz="1800" dirty="0">
                          <a:cs typeface="+mn-lt"/>
                        </a:rPr>
                        <a:t>23</a:t>
                      </a:r>
                      <a:endParaRPr lang="en-IN" altLang="en-US" sz="1800" dirty="0">
                        <a:cs typeface="+mn-lt"/>
                      </a:endParaRPr>
                    </a:p>
                  </a:txBody>
                  <a:tcPr/>
                </a:tc>
                <a:tc>
                  <a:txBody>
                    <a:bodyPr/>
                    <a:lstStyle/>
                    <a:p>
                      <a:pPr algn="just"/>
                      <a:r>
                        <a:rPr lang="en-IN" altLang="en-US" sz="1800" dirty="0">
                          <a:cs typeface="+mn-lt"/>
                        </a:rPr>
                        <a:t>“</a:t>
                      </a:r>
                      <a:r>
                        <a:rPr lang="en-US" altLang="en-US" sz="1800" dirty="0">
                          <a:cs typeface="+mn-lt"/>
                        </a:rPr>
                        <a:t>Adaptive Virtual Assistant Interaction through Real-Time Speech Emotion Analysis Using Hybrid Deep Learning Models and Contextual Awareness</a:t>
                      </a:r>
                      <a:r>
                        <a:rPr lang="en-IN" altLang="en-US" sz="1800" dirty="0">
                          <a:cs typeface="+mn-lt"/>
                        </a:rPr>
                        <a:t>”</a:t>
                      </a:r>
                      <a:endParaRPr lang="en-US" altLang="en-US" sz="1800" dirty="0">
                        <a:cs typeface="+mn-lt"/>
                      </a:endParaRPr>
                    </a:p>
                    <a:p>
                      <a:pPr algn="just"/>
                      <a:r>
                        <a:rPr lang="en-IN" altLang="en-US" sz="1800" dirty="0">
                          <a:cs typeface="+mn-lt"/>
                        </a:rPr>
                        <a:t>-</a:t>
                      </a:r>
                      <a:r>
                        <a:rPr lang="en-US" altLang="en-US" sz="1800" dirty="0">
                          <a:cs typeface="+mn-lt"/>
                        </a:rPr>
                        <a:t>Elham Karim Zadeh , Maryam Alaeifard </a:t>
                      </a:r>
                      <a:endParaRPr lang="en-US" altLang="en-US" sz="1800" dirty="0">
                        <a:cs typeface="+mn-lt"/>
                      </a:endParaRPr>
                    </a:p>
                  </a:txBody>
                  <a:tcPr/>
                </a:tc>
                <a:tc>
                  <a:txBody>
                    <a:bodyPr/>
                    <a:lstStyle/>
                    <a:p>
                      <a:pPr algn="l"/>
                      <a:r>
                        <a:rPr lang="en-US" altLang="en-US" sz="1800" dirty="0">
                          <a:cs typeface="+mn-lt"/>
                        </a:rPr>
                        <a:t>To explore how emotions affect students' motivation, self-regulation, and academic performance, and develop a framework linking them.</a:t>
                      </a:r>
                      <a:endParaRPr lang="en-US" altLang="en-US" sz="1800" dirty="0">
                        <a:cs typeface="+mn-lt"/>
                      </a:endParaRPr>
                    </a:p>
                    <a:p>
                      <a:pPr algn="l"/>
                      <a:endParaRPr lang="en-US" altLang="en-US" sz="1800" dirty="0">
                        <a:cs typeface="+mn-lt"/>
                      </a:endParaRPr>
                    </a:p>
                  </a:txBody>
                  <a:tcPr/>
                </a:tc>
                <a:tc>
                  <a:txBody>
                    <a:bodyPr/>
                    <a:lstStyle/>
                    <a:p>
                      <a:r>
                        <a:rPr lang="en-US" altLang="en-US" sz="1800" dirty="0">
                          <a:cs typeface="+mn-lt"/>
                        </a:rPr>
                        <a:t>Hybrid deep learning models use acoustic and linguistic features with contextual awareness for real-time emotion detection and adaptive virtual assistant interactions.</a:t>
                      </a:r>
                      <a:endParaRPr lang="en-US" altLang="en-US" sz="1800" dirty="0">
                        <a:cs typeface="+mn-lt"/>
                      </a:endParaRPr>
                    </a:p>
                    <a:p>
                      <a:endParaRPr lang="en-US" altLang="en-US" sz="1800" dirty="0">
                        <a:cs typeface="+mn-lt"/>
                      </a:endParaRPr>
                    </a:p>
                  </a:txBody>
                  <a:tcPr/>
                </a:tc>
                <a:tc>
                  <a:txBody>
                    <a:bodyPr/>
                    <a:lstStyle/>
                    <a:p>
                      <a:r>
                        <a:rPr lang="en-US" altLang="en-US" sz="1800" dirty="0">
                          <a:cs typeface="+mn-lt"/>
                        </a:rPr>
                        <a:t>The study concludes that combining speech emotion analysis, deep learning, and context boosts adaptive and empathetic virtual assistant responses.</a:t>
                      </a:r>
                      <a:endParaRPr lang="en-US" altLang="en-US" sz="1800" dirty="0">
                        <a:cs typeface="+mn-lt"/>
                      </a:endParaRPr>
                    </a:p>
                    <a:p>
                      <a:endParaRPr lang="en-US" altLang="en-US" sz="1800" dirty="0">
                        <a:cs typeface="+mn-lt"/>
                      </a:endParaRPr>
                    </a:p>
                  </a:txBody>
                  <a:tcPr/>
                </a:tc>
              </a:tr>
            </a:tbl>
          </a:graphicData>
        </a:graphic>
      </p:graphicFrame>
      <p:sp>
        <p:nvSpPr>
          <p:cNvPr id="3" name="Date Placeholder 2"/>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600" dirty="0"/>
              <a:t>LITERATURE REVIEW</a:t>
            </a:r>
            <a:endParaRPr lang="en-US" sz="2600" dirty="0"/>
          </a:p>
        </p:txBody>
      </p:sp>
      <p:sp>
        <p:nvSpPr>
          <p:cNvPr id="5" name="Footer Placeholder 4"/>
          <p:cNvSpPr>
            <a:spLocks noGrp="1"/>
          </p:cNvSpPr>
          <p:nvPr>
            <p:ph type="ftr" sz="quarter" idx="11"/>
          </p:nvPr>
        </p:nvSpPr>
        <p:spPr/>
        <p:txBody>
          <a:bodyPr/>
          <a:lstStyle/>
          <a:p>
            <a:pPr>
              <a:defRPr/>
            </a:pPr>
            <a:r>
              <a:rPr lang="en-US" dirty="0"/>
              <a:t>© BVRIT CSE(AI &amp; ML)</a:t>
            </a:r>
            <a:endParaRPr lang="en-US" dirty="0"/>
          </a:p>
        </p:txBody>
      </p:sp>
      <p:sp>
        <p:nvSpPr>
          <p:cNvPr id="6" name="Slide Number Placeholder 5"/>
          <p:cNvSpPr>
            <a:spLocks noGrp="1"/>
          </p:cNvSpPr>
          <p:nvPr>
            <p:ph type="sldNum" sz="quarter" idx="12"/>
          </p:nvPr>
        </p:nvSpPr>
        <p:spPr/>
        <p:txBody>
          <a:bodyPr/>
          <a:lstStyle/>
          <a:p>
            <a:pPr>
              <a:defRPr/>
            </a:pPr>
            <a:fld id="{2D96E056-3901-41CB-802B-E67DADB7F3B2}" type="slidenum">
              <a:rPr lang="en-US" altLang="en-US" smtClean="0"/>
            </a:fld>
            <a:endParaRPr lang="en-US" altLang="en-US" dirty="0"/>
          </a:p>
        </p:txBody>
      </p:sp>
      <p:graphicFrame>
        <p:nvGraphicFramePr>
          <p:cNvPr id="8" name="Table 7"/>
          <p:cNvGraphicFramePr>
            <a:graphicFrameLocks noGrp="1"/>
          </p:cNvGraphicFramePr>
          <p:nvPr/>
        </p:nvGraphicFramePr>
        <p:xfrm>
          <a:off x="302260" y="1290175"/>
          <a:ext cx="11420792" cy="5177299"/>
        </p:xfrm>
        <a:graphic>
          <a:graphicData uri="http://schemas.openxmlformats.org/drawingml/2006/table">
            <a:tbl>
              <a:tblPr firstRow="1" bandRow="1">
                <a:tableStyleId>{5C22544A-7EE6-4342-B048-85BDC9FD1C3A}</a:tableStyleId>
              </a:tblPr>
              <a:tblGrid>
                <a:gridCol w="790893"/>
                <a:gridCol w="1428750"/>
                <a:gridCol w="3325091"/>
                <a:gridCol w="1833995"/>
                <a:gridCol w="1995054"/>
                <a:gridCol w="2047009"/>
              </a:tblGrid>
              <a:tr h="893910">
                <a:tc>
                  <a:txBody>
                    <a:bodyPr/>
                    <a:lstStyle/>
                    <a:p>
                      <a:r>
                        <a:rPr lang="en-US" sz="1600" dirty="0"/>
                        <a:t>S.no.</a:t>
                      </a:r>
                      <a:endParaRPr lang="en-IN" sz="1600" dirty="0"/>
                    </a:p>
                  </a:txBody>
                  <a:tcPr/>
                </a:tc>
                <a:tc>
                  <a:txBody>
                    <a:bodyPr/>
                    <a:lstStyle/>
                    <a:p>
                      <a:r>
                        <a:rPr lang="en-IN" sz="1600" dirty="0"/>
                        <a:t>Year of publication</a:t>
                      </a:r>
                      <a:endParaRPr lang="en-IN" sz="1600" dirty="0"/>
                    </a:p>
                  </a:txBody>
                  <a:tcPr/>
                </a:tc>
                <a:tc>
                  <a:txBody>
                    <a:bodyPr/>
                    <a:lstStyle/>
                    <a:p>
                      <a:r>
                        <a:rPr lang="en-US" sz="1600" dirty="0"/>
                        <a:t>Title of paper with author name</a:t>
                      </a:r>
                      <a:endParaRPr lang="en-IN" sz="1600" dirty="0"/>
                    </a:p>
                  </a:txBody>
                  <a:tcPr/>
                </a:tc>
                <a:tc>
                  <a:txBody>
                    <a:bodyPr/>
                    <a:lstStyle/>
                    <a:p>
                      <a:r>
                        <a:rPr lang="en-IN" sz="1600" dirty="0"/>
                        <a:t>Objectives</a:t>
                      </a:r>
                      <a:endParaRPr lang="en-IN" sz="1600" dirty="0"/>
                    </a:p>
                  </a:txBody>
                  <a:tcPr/>
                </a:tc>
                <a:tc>
                  <a:txBody>
                    <a:bodyPr/>
                    <a:lstStyle/>
                    <a:p>
                      <a:r>
                        <a:rPr lang="en-IN" sz="1600" dirty="0"/>
                        <a:t>Methods /Approach</a:t>
                      </a:r>
                      <a:endParaRPr lang="en-IN" sz="1600" dirty="0"/>
                    </a:p>
                  </a:txBody>
                  <a:tcPr/>
                </a:tc>
                <a:tc>
                  <a:txBody>
                    <a:bodyPr/>
                    <a:lstStyle/>
                    <a:p>
                      <a:r>
                        <a:rPr lang="en-IN" sz="1600" dirty="0"/>
                        <a:t>Inference</a:t>
                      </a:r>
                      <a:endParaRPr lang="en-IN" sz="1600" dirty="0"/>
                    </a:p>
                  </a:txBody>
                  <a:tcPr/>
                </a:tc>
              </a:tr>
              <a:tr h="2277675">
                <a:tc>
                  <a:txBody>
                    <a:bodyPr/>
                    <a:lstStyle/>
                    <a:p>
                      <a:r>
                        <a:rPr lang="en-IN" sz="1800" dirty="0">
                          <a:cs typeface="+mn-lt"/>
                        </a:rPr>
                        <a:t>2.</a:t>
                      </a:r>
                      <a:endParaRPr lang="en-IN" sz="1800" dirty="0">
                        <a:cs typeface="+mn-lt"/>
                      </a:endParaRPr>
                    </a:p>
                  </a:txBody>
                  <a:tcPr/>
                </a:tc>
                <a:tc>
                  <a:txBody>
                    <a:bodyPr/>
                    <a:lstStyle/>
                    <a:p>
                      <a:r>
                        <a:rPr lang="en-US" sz="1800" dirty="0">
                          <a:cs typeface="+mn-lt"/>
                        </a:rPr>
                        <a:t>20</a:t>
                      </a:r>
                      <a:r>
                        <a:rPr lang="en-IN" altLang="en-US" sz="1800" dirty="0">
                          <a:cs typeface="+mn-lt"/>
                        </a:rPr>
                        <a:t>22</a:t>
                      </a:r>
                      <a:endParaRPr lang="en-IN" altLang="en-US" sz="1800" dirty="0">
                        <a:cs typeface="+mn-lt"/>
                      </a:endParaRPr>
                    </a:p>
                  </a:txBody>
                  <a:tcPr/>
                </a:tc>
                <a:tc>
                  <a:txBody>
                    <a:bodyPr/>
                    <a:lstStyle/>
                    <a:p>
                      <a:r>
                        <a:rPr lang="en-IN" altLang="en-US" sz="1800" dirty="0">
                          <a:cs typeface="+mn-lt"/>
                        </a:rPr>
                        <a:t>“</a:t>
                      </a:r>
                      <a:r>
                        <a:rPr lang="en-US" altLang="en-US" sz="1800" dirty="0">
                          <a:cs typeface="+mn-lt"/>
                        </a:rPr>
                        <a:t>Emotion-Aware Voice Interfaces</a:t>
                      </a:r>
                      <a:endParaRPr lang="en-US" altLang="en-US" sz="1800" dirty="0">
                        <a:cs typeface="+mn-lt"/>
                      </a:endParaRPr>
                    </a:p>
                    <a:p>
                      <a:r>
                        <a:rPr lang="en-US" altLang="en-US" sz="1800" dirty="0">
                          <a:cs typeface="+mn-lt"/>
                        </a:rPr>
                        <a:t> Based on Speech Signal Processing</a:t>
                      </a:r>
                      <a:r>
                        <a:rPr lang="en-IN" altLang="en-US" sz="1800" dirty="0">
                          <a:cs typeface="+mn-lt"/>
                        </a:rPr>
                        <a:t>”</a:t>
                      </a:r>
                      <a:r>
                        <a:rPr lang="en-IN" sz="1800" dirty="0">
                          <a:cs typeface="+mn-lt"/>
                        </a:rPr>
                        <a:t>.</a:t>
                      </a:r>
                      <a:endParaRPr lang="en-IN" sz="1800" dirty="0">
                        <a:cs typeface="+mn-lt"/>
                      </a:endParaRPr>
                    </a:p>
                    <a:p>
                      <a:r>
                        <a:rPr lang="en-IN" altLang="en-US" sz="1800" dirty="0">
                          <a:cs typeface="+mn-lt"/>
                        </a:rPr>
                        <a:t>-</a:t>
                      </a:r>
                      <a:r>
                        <a:rPr lang="en-US" altLang="en-US" sz="1800" dirty="0">
                          <a:cs typeface="+mn-lt"/>
                        </a:rPr>
                        <a:t>Yong Ma.</a:t>
                      </a:r>
                      <a:endParaRPr lang="en-US" altLang="en-US" sz="1800" dirty="0">
                        <a:cs typeface="+mn-lt"/>
                      </a:endParaRPr>
                    </a:p>
                  </a:txBody>
                  <a:tcPr/>
                </a:tc>
                <a:tc>
                  <a:txBody>
                    <a:bodyPr/>
                    <a:lstStyle/>
                    <a:p>
                      <a:r>
                        <a:rPr lang="en-US" altLang="en-US" sz="1800" dirty="0">
                          <a:cs typeface="+mn-lt"/>
                        </a:rPr>
                        <a:t>To improve voice interfaces by combining speech processing and emotion recognition for more natural, emotion-based interactions.</a:t>
                      </a:r>
                      <a:endParaRPr lang="en-US" altLang="en-US" sz="1800" dirty="0">
                        <a:cs typeface="+mn-lt"/>
                      </a:endParaRPr>
                    </a:p>
                    <a:p>
                      <a:endParaRPr lang="en-US" altLang="en-US" sz="1800" dirty="0">
                        <a:cs typeface="+mn-lt"/>
                      </a:endParaRPr>
                    </a:p>
                  </a:txBody>
                  <a:tcPr/>
                </a:tc>
                <a:tc>
                  <a:txBody>
                    <a:bodyPr/>
                    <a:lstStyle/>
                    <a:p>
                      <a:r>
                        <a:rPr lang="en-US" altLang="en-US" sz="1800" dirty="0">
                          <a:cs typeface="+mn-lt"/>
                        </a:rPr>
                        <a:t>Speech processing and emotion recognition detect emotional cues, enabling voice interfaces to adapt responses to the user's mood.</a:t>
                      </a:r>
                      <a:endParaRPr lang="en-US" altLang="en-US" sz="1800" dirty="0">
                        <a:cs typeface="+mn-lt"/>
                      </a:endParaRPr>
                    </a:p>
                    <a:p>
                      <a:endParaRPr lang="en-US" altLang="en-US" sz="1800" dirty="0">
                        <a:cs typeface="+mn-lt"/>
                      </a:endParaRPr>
                    </a:p>
                  </a:txBody>
                  <a:tcPr/>
                </a:tc>
                <a:tc>
                  <a:txBody>
                    <a:bodyPr/>
                    <a:lstStyle/>
                    <a:p>
                      <a:r>
                        <a:rPr lang="en-US" altLang="en-US" sz="1800" dirty="0">
                          <a:cs typeface="+mn-lt"/>
                        </a:rPr>
                        <a:t>Integrating emotion recognition with speech processing makes voice interfaces more personalized and emotionally responsive.</a:t>
                      </a:r>
                      <a:endParaRPr lang="en-US" altLang="en-US" sz="1800" dirty="0">
                        <a:cs typeface="+mn-lt"/>
                      </a:endParaRPr>
                    </a:p>
                    <a:p>
                      <a:endParaRPr lang="en-US" altLang="en-US" sz="1800" dirty="0">
                        <a:cs typeface="+mn-lt"/>
                      </a:endParaRPr>
                    </a:p>
                  </a:txBody>
                  <a:tcPr/>
                </a:tc>
              </a:tr>
            </a:tbl>
          </a:graphicData>
        </a:graphic>
      </p:graphicFrame>
      <p:sp>
        <p:nvSpPr>
          <p:cNvPr id="3" name="Date Placeholder 2"/>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LITERATURE REVIEW</a:t>
            </a:r>
            <a:endParaRPr lang="en-IN" altLang="en-US"/>
          </a:p>
        </p:txBody>
      </p:sp>
      <p:graphicFrame>
        <p:nvGraphicFramePr>
          <p:cNvPr id="8" name="Content Placeholder 7"/>
          <p:cNvGraphicFramePr>
            <a:graphicFrameLocks noGrp="1"/>
          </p:cNvGraphicFramePr>
          <p:nvPr>
            <p:ph idx="1"/>
            <p:custDataLst>
              <p:tags r:id="rId1"/>
            </p:custDataLst>
          </p:nvPr>
        </p:nvGraphicFramePr>
        <p:xfrm>
          <a:off x="306705" y="1304925"/>
          <a:ext cx="11508740" cy="4297680"/>
        </p:xfrm>
        <a:graphic>
          <a:graphicData uri="http://schemas.openxmlformats.org/drawingml/2006/table">
            <a:tbl>
              <a:tblPr firstRow="1" bandRow="1">
                <a:tableStyleId>{5C22544A-7EE6-4342-B048-85BDC9FD1C3A}</a:tableStyleId>
              </a:tblPr>
              <a:tblGrid>
                <a:gridCol w="845820"/>
                <a:gridCol w="1558290"/>
                <a:gridCol w="3288665"/>
                <a:gridCol w="1908175"/>
                <a:gridCol w="2003425"/>
                <a:gridCol w="1904365"/>
              </a:tblGrid>
              <a:tr h="789940">
                <a:tc>
                  <a:txBody>
                    <a:bodyPr/>
                    <a:p>
                      <a:r>
                        <a:rPr lang="en-US" sz="1600" dirty="0"/>
                        <a:t>S.no.</a:t>
                      </a:r>
                      <a:endParaRPr lang="en-IN" sz="1600" dirty="0"/>
                    </a:p>
                  </a:txBody>
                  <a:tcPr/>
                </a:tc>
                <a:tc>
                  <a:txBody>
                    <a:bodyPr/>
                    <a:p>
                      <a:r>
                        <a:rPr lang="en-IN" sz="1600" dirty="0"/>
                        <a:t>Year of publication</a:t>
                      </a:r>
                      <a:endParaRPr lang="en-IN" sz="1600" dirty="0"/>
                    </a:p>
                  </a:txBody>
                  <a:tcPr/>
                </a:tc>
                <a:tc>
                  <a:txBody>
                    <a:bodyPr/>
                    <a:p>
                      <a:r>
                        <a:rPr lang="en-US" sz="1600" dirty="0"/>
                        <a:t>Title of paper with author name</a:t>
                      </a:r>
                      <a:endParaRPr lang="en-IN" sz="1600" dirty="0"/>
                    </a:p>
                  </a:txBody>
                  <a:tcPr/>
                </a:tc>
                <a:tc>
                  <a:txBody>
                    <a:bodyPr/>
                    <a:p>
                      <a:r>
                        <a:rPr lang="en-IN" sz="1600" dirty="0"/>
                        <a:t>Objectives</a:t>
                      </a:r>
                      <a:endParaRPr lang="en-IN" sz="1600" dirty="0"/>
                    </a:p>
                  </a:txBody>
                  <a:tcPr/>
                </a:tc>
                <a:tc>
                  <a:txBody>
                    <a:bodyPr/>
                    <a:p>
                      <a:r>
                        <a:rPr lang="en-IN" sz="1600" dirty="0"/>
                        <a:t>Methods /Approach</a:t>
                      </a:r>
                      <a:endParaRPr lang="en-IN" sz="1600" dirty="0"/>
                    </a:p>
                  </a:txBody>
                  <a:tcPr/>
                </a:tc>
                <a:tc>
                  <a:txBody>
                    <a:bodyPr/>
                    <a:p>
                      <a:r>
                        <a:rPr lang="en-IN" sz="1600" dirty="0"/>
                        <a:t>Inference</a:t>
                      </a:r>
                      <a:endParaRPr lang="en-IN" sz="1600" dirty="0"/>
                    </a:p>
                  </a:txBody>
                  <a:tcPr/>
                </a:tc>
              </a:tr>
              <a:tr h="3507740">
                <a:tc>
                  <a:txBody>
                    <a:bodyPr/>
                    <a:p>
                      <a:r>
                        <a:rPr lang="en-IN" altLang="en-US" sz="1800" dirty="0">
                          <a:cs typeface="+mn-lt"/>
                        </a:rPr>
                        <a:t>3.</a:t>
                      </a:r>
                      <a:endParaRPr lang="en-IN" altLang="en-US" sz="1800" dirty="0">
                        <a:cs typeface="+mn-lt"/>
                      </a:endParaRPr>
                    </a:p>
                  </a:txBody>
                  <a:tcPr/>
                </a:tc>
                <a:tc>
                  <a:txBody>
                    <a:bodyPr/>
                    <a:p>
                      <a:r>
                        <a:rPr lang="en-US" sz="1800" dirty="0">
                          <a:cs typeface="+mn-lt"/>
                        </a:rPr>
                        <a:t>20</a:t>
                      </a:r>
                      <a:r>
                        <a:rPr lang="en-IN" altLang="en-US" sz="1800" dirty="0">
                          <a:cs typeface="+mn-lt"/>
                        </a:rPr>
                        <a:t>24</a:t>
                      </a:r>
                      <a:endParaRPr lang="en-IN" altLang="en-US" sz="1800" dirty="0">
                        <a:cs typeface="+mn-lt"/>
                      </a:endParaRPr>
                    </a:p>
                  </a:txBody>
                  <a:tcPr/>
                </a:tc>
                <a:tc>
                  <a:txBody>
                    <a:bodyPr/>
                    <a:p>
                      <a:pPr lvl="0" algn="l"/>
                      <a:r>
                        <a:rPr lang="en-IN" altLang="en-US" sz="1800" dirty="0">
                          <a:cs typeface="+mn-lt"/>
                        </a:rPr>
                        <a:t>“</a:t>
                      </a:r>
                      <a:r>
                        <a:rPr lang="en-US" altLang="en-US" sz="1800" dirty="0">
                          <a:cs typeface="+mn-lt"/>
                        </a:rPr>
                        <a:t>Auditive Emotion Recognition for Empathic  AI‑Assistants</a:t>
                      </a:r>
                      <a:r>
                        <a:rPr lang="en-IN" altLang="en-US" sz="1800" dirty="0">
                          <a:cs typeface="+mn-lt"/>
                        </a:rPr>
                        <a:t>”</a:t>
                      </a:r>
                      <a:endParaRPr lang="en-IN" altLang="en-US" sz="1800" dirty="0">
                        <a:cs typeface="+mn-lt"/>
                      </a:endParaRPr>
                    </a:p>
                    <a:p>
                      <a:pPr lvl="0" algn="l"/>
                      <a:r>
                        <a:rPr lang="en-IN" altLang="en-US" sz="1800" dirty="0">
                          <a:cs typeface="+mn-lt"/>
                        </a:rPr>
                        <a:t>- </a:t>
                      </a:r>
                      <a:r>
                        <a:rPr lang="en-US" altLang="en-US" sz="1800" dirty="0">
                          <a:cs typeface="+mn-lt"/>
                        </a:rPr>
                        <a:t>Roswitha Duwenbeck</a:t>
                      </a:r>
                      <a:r>
                        <a:rPr lang="en-IN" altLang="en-US" sz="1800" dirty="0">
                          <a:cs typeface="+mn-lt"/>
                        </a:rPr>
                        <a:t>, </a:t>
                      </a:r>
                      <a:r>
                        <a:rPr lang="en-US" altLang="en-US" sz="1800" dirty="0">
                          <a:cs typeface="+mn-lt"/>
                        </a:rPr>
                        <a:t>Elsa Andrea Kirchner</a:t>
                      </a:r>
                      <a:endParaRPr lang="en-US" altLang="en-US" sz="1800" dirty="0">
                        <a:cs typeface="+mn-lt"/>
                      </a:endParaRPr>
                    </a:p>
                  </a:txBody>
                  <a:tcPr/>
                </a:tc>
                <a:tc>
                  <a:txBody>
                    <a:bodyPr/>
                    <a:p>
                      <a:pPr algn="l"/>
                      <a:r>
                        <a:rPr lang="en-US" altLang="en-US" sz="1800" dirty="0">
                          <a:cs typeface="+mn-lt"/>
                        </a:rPr>
                        <a:t>To enhance AI assistants by integrating speech and signal-based emotion recognition for more empathetic, real-time interactions.</a:t>
                      </a:r>
                      <a:endParaRPr lang="en-US" altLang="en-US" sz="1800" dirty="0">
                        <a:cs typeface="+mn-lt"/>
                      </a:endParaRPr>
                    </a:p>
                    <a:p>
                      <a:pPr algn="l"/>
                      <a:endParaRPr lang="en-US" altLang="en-US" sz="1800" dirty="0">
                        <a:cs typeface="+mn-lt"/>
                      </a:endParaRPr>
                    </a:p>
                  </a:txBody>
                  <a:tcPr/>
                </a:tc>
                <a:tc>
                  <a:txBody>
                    <a:bodyPr/>
                    <a:p>
                      <a:r>
                        <a:rPr lang="en-US" altLang="en-US" sz="1800" dirty="0">
                          <a:cs typeface="+mn-lt"/>
                        </a:rPr>
                        <a:t>To combine speech and physiological signals with machine learning for real-time emotion detection on low-resource devices.</a:t>
                      </a:r>
                      <a:endParaRPr lang="en-US" altLang="en-US" sz="1800" dirty="0">
                        <a:cs typeface="+mn-lt"/>
                      </a:endParaRPr>
                    </a:p>
                    <a:p>
                      <a:endParaRPr lang="en-US" altLang="en-US" sz="1800" dirty="0">
                        <a:cs typeface="+mn-lt"/>
                      </a:endParaRPr>
                    </a:p>
                  </a:txBody>
                  <a:tcPr/>
                </a:tc>
                <a:tc>
                  <a:txBody>
                    <a:bodyPr/>
                    <a:p>
                      <a:r>
                        <a:rPr lang="en-US" altLang="en-US" sz="1800" dirty="0">
                          <a:cs typeface="+mn-lt"/>
                        </a:rPr>
                        <a:t>To improve AI assistants’ empathy by enabling real-time emotion detection through speech and physiological signals.</a:t>
                      </a:r>
                      <a:endParaRPr lang="en-US" altLang="en-US" sz="1800" dirty="0">
                        <a:cs typeface="+mn-lt"/>
                      </a:endParaRPr>
                    </a:p>
                    <a:p>
                      <a:endParaRPr lang="en-US" altLang="en-US" sz="1800" dirty="0">
                        <a:cs typeface="+mn-lt"/>
                      </a:endParaRPr>
                    </a:p>
                  </a:txBody>
                  <a:tcPr/>
                </a:tc>
              </a:tr>
            </a:tbl>
          </a:graphicData>
        </a:graphic>
      </p:graphicFrame>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
        <p:nvSpPr>
          <p:cNvPr id="5" name="Footer Placeholder 4"/>
          <p:cNvSpPr>
            <a:spLocks noGrp="1"/>
          </p:cNvSpPr>
          <p:nvPr>
            <p:ph type="ftr" sz="quarter" idx="11"/>
          </p:nvPr>
        </p:nvSpPr>
        <p:spPr/>
        <p:txBody>
          <a:bodyPr/>
          <a:p>
            <a:pPr>
              <a:defRPr/>
            </a:pPr>
            <a:r>
              <a:rPr lang="en-US" dirty="0"/>
              <a:t>© BVRIT CSE(AI &amp; ML)</a:t>
            </a:r>
            <a:endParaRPr lang="en-US" dirty="0"/>
          </a:p>
        </p:txBody>
      </p:sp>
      <p:sp>
        <p:nvSpPr>
          <p:cNvPr id="6" name="Slide Number Placeholder 5"/>
          <p:cNvSpPr>
            <a:spLocks noGrp="1"/>
          </p:cNvSpPr>
          <p:nvPr>
            <p:ph type="sldNum" sz="quarter" idx="12"/>
          </p:nvPr>
        </p:nvSpPr>
        <p:spPr/>
        <p:txBody>
          <a:bodyPr/>
          <a:p>
            <a:pPr>
              <a:defRPr/>
            </a:pPr>
            <a:fld id="{2D96E056-3901-41CB-802B-E67DADB7F3B2}" type="slidenum">
              <a:rPr lang="en-US" altLang="en-US"/>
            </a:fld>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LITERATURE REVIEW</a:t>
            </a:r>
            <a:endParaRPr lang="en-IN" altLang="en-US"/>
          </a:p>
        </p:txBody>
      </p:sp>
      <p:graphicFrame>
        <p:nvGraphicFramePr>
          <p:cNvPr id="8" name="Content Placeholder 7"/>
          <p:cNvGraphicFramePr>
            <a:graphicFrameLocks noGrp="1"/>
          </p:cNvGraphicFramePr>
          <p:nvPr>
            <p:ph idx="1"/>
            <p:custDataLst>
              <p:tags r:id="rId1"/>
            </p:custDataLst>
          </p:nvPr>
        </p:nvGraphicFramePr>
        <p:xfrm>
          <a:off x="455930" y="1090930"/>
          <a:ext cx="11354435" cy="4616450"/>
        </p:xfrm>
        <a:graphic>
          <a:graphicData uri="http://schemas.openxmlformats.org/drawingml/2006/table">
            <a:tbl>
              <a:tblPr firstRow="1" bandRow="1">
                <a:tableStyleId>{5C22544A-7EE6-4342-B048-85BDC9FD1C3A}</a:tableStyleId>
              </a:tblPr>
              <a:tblGrid>
                <a:gridCol w="803275"/>
                <a:gridCol w="1541780"/>
                <a:gridCol w="3254375"/>
                <a:gridCol w="1888490"/>
                <a:gridCol w="1993265"/>
                <a:gridCol w="1873250"/>
              </a:tblGrid>
              <a:tr h="847725">
                <a:tc>
                  <a:txBody>
                    <a:bodyPr/>
                    <a:lstStyle/>
                    <a:p>
                      <a:r>
                        <a:rPr lang="en-US" sz="1600" dirty="0"/>
                        <a:t>S.no.</a:t>
                      </a:r>
                      <a:endParaRPr lang="en-IN" sz="1600" dirty="0"/>
                    </a:p>
                  </a:txBody>
                  <a:tcPr/>
                </a:tc>
                <a:tc>
                  <a:txBody>
                    <a:bodyPr/>
                    <a:lstStyle/>
                    <a:p>
                      <a:r>
                        <a:rPr lang="en-IN" sz="1600" dirty="0"/>
                        <a:t>Year of publication</a:t>
                      </a:r>
                      <a:endParaRPr lang="en-IN" sz="1600" dirty="0"/>
                    </a:p>
                  </a:txBody>
                  <a:tcPr/>
                </a:tc>
                <a:tc>
                  <a:txBody>
                    <a:bodyPr/>
                    <a:lstStyle/>
                    <a:p>
                      <a:r>
                        <a:rPr lang="en-US" sz="1600" dirty="0"/>
                        <a:t>Title of paper with author name</a:t>
                      </a:r>
                      <a:endParaRPr lang="en-IN" sz="1600" dirty="0"/>
                    </a:p>
                  </a:txBody>
                  <a:tcPr/>
                </a:tc>
                <a:tc>
                  <a:txBody>
                    <a:bodyPr/>
                    <a:lstStyle/>
                    <a:p>
                      <a:r>
                        <a:rPr lang="en-IN" sz="1600" dirty="0"/>
                        <a:t>Objectives</a:t>
                      </a:r>
                      <a:endParaRPr lang="en-IN" sz="1600" dirty="0"/>
                    </a:p>
                  </a:txBody>
                  <a:tcPr/>
                </a:tc>
                <a:tc>
                  <a:txBody>
                    <a:bodyPr/>
                    <a:lstStyle/>
                    <a:p>
                      <a:r>
                        <a:rPr lang="en-IN" sz="1600" dirty="0"/>
                        <a:t>Methods /Approach</a:t>
                      </a:r>
                      <a:endParaRPr lang="en-IN" sz="1600" dirty="0"/>
                    </a:p>
                  </a:txBody>
                  <a:tcPr/>
                </a:tc>
                <a:tc>
                  <a:txBody>
                    <a:bodyPr/>
                    <a:lstStyle/>
                    <a:p>
                      <a:r>
                        <a:rPr lang="en-IN" sz="1600" dirty="0"/>
                        <a:t>Inference</a:t>
                      </a:r>
                      <a:endParaRPr lang="en-IN" sz="1600" dirty="0"/>
                    </a:p>
                  </a:txBody>
                  <a:tcPr/>
                </a:tc>
              </a:tr>
              <a:tr h="3768725">
                <a:tc>
                  <a:txBody>
                    <a:bodyPr/>
                    <a:lstStyle/>
                    <a:p>
                      <a:r>
                        <a:rPr lang="en-IN" altLang="en-US" sz="1800" dirty="0">
                          <a:cs typeface="+mn-lt"/>
                        </a:rPr>
                        <a:t>4.</a:t>
                      </a:r>
                      <a:endParaRPr lang="en-IN" altLang="en-US" sz="1800" dirty="0">
                        <a:cs typeface="+mn-lt"/>
                      </a:endParaRPr>
                    </a:p>
                  </a:txBody>
                  <a:tcPr/>
                </a:tc>
                <a:tc>
                  <a:txBody>
                    <a:bodyPr/>
                    <a:lstStyle/>
                    <a:p>
                      <a:r>
                        <a:rPr lang="en-US" sz="1800" dirty="0">
                          <a:cs typeface="+mn-lt"/>
                        </a:rPr>
                        <a:t>20</a:t>
                      </a:r>
                      <a:r>
                        <a:rPr lang="en-IN" altLang="en-US" sz="1800" dirty="0">
                          <a:cs typeface="+mn-lt"/>
                        </a:rPr>
                        <a:t>22</a:t>
                      </a:r>
                      <a:endParaRPr lang="en-IN" altLang="en-US" sz="1800" dirty="0">
                        <a:cs typeface="+mn-lt"/>
                      </a:endParaRPr>
                    </a:p>
                  </a:txBody>
                  <a:tcPr/>
                </a:tc>
                <a:tc>
                  <a:txBody>
                    <a:bodyPr/>
                    <a:lstStyle/>
                    <a:p>
                      <a:pPr algn="l"/>
                      <a:r>
                        <a:rPr lang="en-IN" altLang="en-US" sz="1800" dirty="0">
                          <a:cs typeface="+mn-lt"/>
                        </a:rPr>
                        <a:t>“</a:t>
                      </a:r>
                      <a:r>
                        <a:rPr lang="en-US" altLang="en-US" sz="1800" dirty="0">
                          <a:cs typeface="+mn-lt"/>
                        </a:rPr>
                        <a:t>A voice-based real-time emotion detection technique</a:t>
                      </a:r>
                      <a:endParaRPr lang="en-US" altLang="en-US" sz="1800" dirty="0">
                        <a:cs typeface="+mn-lt"/>
                      </a:endParaRPr>
                    </a:p>
                    <a:p>
                      <a:pPr algn="l"/>
                      <a:r>
                        <a:rPr lang="en-US" altLang="en-US" sz="1800" dirty="0">
                          <a:cs typeface="+mn-lt"/>
                        </a:rPr>
                        <a:t> using recurrent neural network empowered</a:t>
                      </a:r>
                      <a:endParaRPr lang="en-US" altLang="en-US" sz="1800" dirty="0">
                        <a:cs typeface="+mn-lt"/>
                      </a:endParaRPr>
                    </a:p>
                    <a:p>
                      <a:pPr algn="l"/>
                      <a:r>
                        <a:rPr lang="en-US" altLang="en-US" sz="1800" dirty="0">
                          <a:cs typeface="+mn-lt"/>
                        </a:rPr>
                        <a:t> feature modelling</a:t>
                      </a:r>
                      <a:r>
                        <a:rPr lang="en-IN" altLang="en-US" sz="1800" dirty="0">
                          <a:cs typeface="+mn-lt"/>
                        </a:rPr>
                        <a:t>”- </a:t>
                      </a:r>
                      <a:r>
                        <a:rPr lang="en-US" altLang="en-US" sz="1800" dirty="0">
                          <a:cs typeface="+mn-lt"/>
                        </a:rPr>
                        <a:t> Sadil Chamishka</a:t>
                      </a:r>
                      <a:r>
                        <a:rPr lang="en-IN" altLang="en-US" sz="1800" dirty="0">
                          <a:cs typeface="+mn-lt"/>
                        </a:rPr>
                        <a:t>, </a:t>
                      </a:r>
                      <a:r>
                        <a:rPr lang="en-US" altLang="en-US" sz="1800" dirty="0">
                          <a:cs typeface="+mn-lt"/>
                        </a:rPr>
                        <a:t>Ishara Madhavi</a:t>
                      </a:r>
                      <a:r>
                        <a:rPr lang="en-IN" altLang="en-US" sz="1800" dirty="0">
                          <a:cs typeface="+mn-lt"/>
                        </a:rPr>
                        <a:t>l, </a:t>
                      </a:r>
                      <a:r>
                        <a:rPr lang="en-US" altLang="en-US" sz="1800" dirty="0">
                          <a:cs typeface="+mn-lt"/>
                        </a:rPr>
                        <a:t>Rashmika Nawaratne</a:t>
                      </a:r>
                      <a:r>
                        <a:rPr lang="en-IN" altLang="en-US" sz="1800" dirty="0">
                          <a:cs typeface="+mn-lt"/>
                        </a:rPr>
                        <a:t>, </a:t>
                      </a:r>
                      <a:r>
                        <a:rPr lang="en-US" altLang="en-US" sz="1800" dirty="0">
                          <a:cs typeface="+mn-lt"/>
                        </a:rPr>
                        <a:t>Damminda</a:t>
                      </a:r>
                      <a:r>
                        <a:rPr lang="en-IN" altLang="en-US" sz="1800" dirty="0">
                          <a:cs typeface="+mn-lt"/>
                        </a:rPr>
                        <a:t> </a:t>
                      </a:r>
                      <a:r>
                        <a:rPr lang="en-US" altLang="en-US" sz="1800" dirty="0">
                          <a:cs typeface="+mn-lt"/>
                        </a:rPr>
                        <a:t>Alahakoon</a:t>
                      </a:r>
                      <a:r>
                        <a:rPr lang="en-IN" altLang="en-US" sz="1800" dirty="0">
                          <a:cs typeface="+mn-lt"/>
                        </a:rPr>
                        <a:t>, </a:t>
                      </a:r>
                      <a:r>
                        <a:rPr lang="en-US" altLang="en-US" sz="1800" dirty="0">
                          <a:cs typeface="+mn-lt"/>
                        </a:rPr>
                        <a:t>Daswin De Silva</a:t>
                      </a:r>
                      <a:r>
                        <a:rPr lang="en-IN" altLang="en-US" sz="1800" dirty="0">
                          <a:cs typeface="+mn-lt"/>
                        </a:rPr>
                        <a:t>, N</a:t>
                      </a:r>
                      <a:r>
                        <a:rPr lang="en-US" altLang="en-US" sz="1800" dirty="0">
                          <a:cs typeface="+mn-lt"/>
                        </a:rPr>
                        <a:t>aveen Chilamkurti</a:t>
                      </a:r>
                      <a:r>
                        <a:rPr lang="en-IN" altLang="en-US" sz="1800" dirty="0">
                          <a:cs typeface="+mn-lt"/>
                        </a:rPr>
                        <a:t> &amp; </a:t>
                      </a:r>
                      <a:r>
                        <a:rPr lang="en-US" altLang="en-US" sz="1800" dirty="0">
                          <a:cs typeface="+mn-lt"/>
                        </a:rPr>
                        <a:t>Vishaka Nanayakkara</a:t>
                      </a:r>
                      <a:endParaRPr lang="en-US" altLang="en-US" sz="1800" dirty="0">
                        <a:cs typeface="+mn-lt"/>
                      </a:endParaRPr>
                    </a:p>
                  </a:txBody>
                  <a:tcPr/>
                </a:tc>
                <a:tc>
                  <a:txBody>
                    <a:bodyPr/>
                    <a:lstStyle/>
                    <a:p>
                      <a:pPr algn="l"/>
                      <a:r>
                        <a:rPr lang="en-US" altLang="en-US" sz="1800" dirty="0">
                          <a:cs typeface="+mn-lt"/>
                        </a:rPr>
                        <a:t>To develop a real-time emotion detection system using BoAW for feature extraction and an RNN for classification.</a:t>
                      </a:r>
                      <a:endParaRPr lang="en-US" altLang="en-US" sz="1800" dirty="0">
                        <a:cs typeface="+mn-lt"/>
                      </a:endParaRPr>
                    </a:p>
                  </a:txBody>
                  <a:tcPr/>
                </a:tc>
                <a:tc>
                  <a:txBody>
                    <a:bodyPr/>
                    <a:lstStyle/>
                    <a:p>
                      <a:r>
                        <a:rPr lang="en-US" altLang="en-US" sz="1800" dirty="0">
                          <a:cs typeface="+mn-lt"/>
                        </a:rPr>
                        <a:t>BoAW converts audio to fixed-size embeddings, processed by a Bi-directional GRU-based RNN with attention for emotion classification.</a:t>
                      </a:r>
                      <a:endParaRPr lang="en-US" altLang="en-US" sz="1800" dirty="0">
                        <a:cs typeface="+mn-lt"/>
                      </a:endParaRPr>
                    </a:p>
                  </a:txBody>
                  <a:tcPr/>
                </a:tc>
                <a:tc>
                  <a:txBody>
                    <a:bodyPr/>
                    <a:lstStyle/>
                    <a:p>
                      <a:r>
                        <a:rPr lang="en-US" altLang="en-US" sz="1800" dirty="0">
                          <a:cs typeface="+mn-lt"/>
                        </a:rPr>
                        <a:t>The method improves emotion detection accuracy by capturing both acoustic features and contextual dynamics.</a:t>
                      </a:r>
                      <a:endParaRPr lang="en-US" altLang="en-US" sz="1800" dirty="0">
                        <a:cs typeface="+mn-lt"/>
                      </a:endParaRPr>
                    </a:p>
                  </a:txBody>
                  <a:tcPr/>
                </a:tc>
              </a:tr>
            </a:tbl>
          </a:graphicData>
        </a:graphic>
      </p:graphicFrame>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
        <p:nvSpPr>
          <p:cNvPr id="5" name="Footer Placeholder 4"/>
          <p:cNvSpPr>
            <a:spLocks noGrp="1"/>
          </p:cNvSpPr>
          <p:nvPr>
            <p:ph type="ftr" sz="quarter" idx="11"/>
          </p:nvPr>
        </p:nvSpPr>
        <p:spPr/>
        <p:txBody>
          <a:bodyPr/>
          <a:p>
            <a:pPr>
              <a:defRPr/>
            </a:pPr>
            <a:r>
              <a:rPr lang="en-US" dirty="0"/>
              <a:t>© BVRIT CSE(AI &amp; ML)</a:t>
            </a:r>
            <a:endParaRPr lang="en-US" dirty="0"/>
          </a:p>
        </p:txBody>
      </p:sp>
      <p:sp>
        <p:nvSpPr>
          <p:cNvPr id="6" name="Slide Number Placeholder 5"/>
          <p:cNvSpPr>
            <a:spLocks noGrp="1"/>
          </p:cNvSpPr>
          <p:nvPr>
            <p:ph type="sldNum" sz="quarter" idx="12"/>
          </p:nvPr>
        </p:nvSpPr>
        <p:spPr/>
        <p:txBody>
          <a:bodyPr/>
          <a:p>
            <a:pPr>
              <a:defRPr/>
            </a:pPr>
            <a:fld id="{2D96E056-3901-41CB-802B-E67DADB7F3B2}" type="slidenum">
              <a:rPr lang="en-US" altLang="en-US"/>
            </a:fld>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IN" altLang="en-US" sz="2600" dirty="0">
                <a:latin typeface="Bookman Old Style" panose="02050604050505020204" pitchFamily="18" charset="0"/>
                <a:ea typeface="Cambria" panose="02040503050406030204" pitchFamily="18" charset="0"/>
                <a:cs typeface="Cambria" panose="02040503050406030204" pitchFamily="18" charset="0"/>
              </a:rPr>
              <a:t>METHODOLOGY</a:t>
            </a:r>
            <a:endParaRPr lang="en-US" altLang="en-US" sz="2600" dirty="0">
              <a:latin typeface="Bookman Old Style" panose="02050604050505020204" pitchFamily="18" charset="0"/>
              <a:ea typeface="Cambria" panose="02040503050406030204" pitchFamily="18" charset="0"/>
              <a:cs typeface="Cambria" panose="02040503050406030204" pitchFamily="18" charset="0"/>
            </a:endParaRPr>
          </a:p>
        </p:txBody>
      </p:sp>
      <p:sp>
        <p:nvSpPr>
          <p:cNvPr id="18436" name="Footer Placeholder 4"/>
          <p:cNvSpPr>
            <a:spLocks noGrp="1"/>
          </p:cNvSpPr>
          <p:nvPr>
            <p:ph type="ftr" sz="quarter" idx="11"/>
          </p:nvPr>
        </p:nvSpPr>
        <p:spPr bwMode="auto">
          <a:ln>
            <a:miter lim="800000"/>
          </a:ln>
        </p:spPr>
        <p:txBody>
          <a:bodyPr wrap="square" numCol="1" anchorCtr="0" compatLnSpc="1"/>
          <a:lstStyle/>
          <a:p>
            <a:pPr fontAlgn="base">
              <a:spcBef>
                <a:spcPct val="0"/>
              </a:spcBef>
              <a:spcAft>
                <a:spcPct val="0"/>
              </a:spcAft>
              <a:defRPr/>
            </a:pPr>
            <a:r>
              <a:rPr lang="en-US" altLang="en-US" dirty="0"/>
              <a:t>© BVRIT CSE(AI &amp; ML)</a:t>
            </a:r>
            <a:endParaRPr lang="en-US" altLang="en-US" dirty="0"/>
          </a:p>
        </p:txBody>
      </p:sp>
      <p:sp>
        <p:nvSpPr>
          <p:cNvPr id="10245" name="Slide Number Placeholder 5"/>
          <p:cNvSpPr>
            <a:spLocks noGrp="1"/>
          </p:cNvSpPr>
          <p:nvPr>
            <p:ph type="sldNum" sz="quarter" idx="12"/>
          </p:nvPr>
        </p:nvSpPr>
        <p:spPr bwMode="auto">
          <a:noFill/>
          <a:ln>
            <a:miter lim="800000"/>
          </a:ln>
        </p:spPr>
        <p:txBody>
          <a:bodyPr/>
          <a:lstStyle/>
          <a:p>
            <a:fld id="{12B54055-D293-41A4-A00A-384E787F4E19}" type="slidenum">
              <a:rPr lang="en-US" altLang="en-US"/>
            </a:fld>
            <a:endParaRPr lang="en-US" altLang="en-US" dirty="0"/>
          </a:p>
        </p:txBody>
      </p:sp>
      <p:sp>
        <p:nvSpPr>
          <p:cNvPr id="4" name="Rectangle 3"/>
          <p:cNvSpPr>
            <a:spLocks noChangeArrowheads="1"/>
          </p:cNvSpPr>
          <p:nvPr/>
        </p:nvSpPr>
        <p:spPr bwMode="auto">
          <a:xfrm>
            <a:off x="104053" y="3334499"/>
            <a:ext cx="11536103" cy="1029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600" b="1" i="0" u="none" strike="noStrike" cap="none" normalizeH="0" baseline="0" dirty="0">
              <a:ln>
                <a:noFill/>
              </a:ln>
              <a:solidFill>
                <a:schemeClr val="tx1"/>
              </a:solidFill>
              <a:effectLst/>
              <a:latin typeface="+mn-lt"/>
            </a:endParaRPr>
          </a:p>
          <a:p>
            <a:pPr>
              <a:lnSpc>
                <a:spcPct val="150000"/>
              </a:lnSpc>
              <a:buFont typeface="Arial" panose="020B0604020202020204" pitchFamily="34" charset="0"/>
              <a:buChar char="•"/>
            </a:pPr>
            <a:endParaRPr lang="en-IN" dirty="0"/>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 Box 1"/>
          <p:cNvSpPr txBox="1"/>
          <p:nvPr/>
        </p:nvSpPr>
        <p:spPr>
          <a:xfrm>
            <a:off x="103505" y="1096645"/>
            <a:ext cx="11797665" cy="5118735"/>
          </a:xfrm>
          <a:prstGeom prst="rect">
            <a:avLst/>
          </a:prstGeom>
          <a:noFill/>
        </p:spPr>
        <p:txBody>
          <a:bodyPr wrap="square" rtlCol="0">
            <a:noAutofit/>
          </a:bodyPr>
          <a:p>
            <a:pPr marL="0" indent="0" algn="just">
              <a:lnSpc>
                <a:spcPct val="100000"/>
              </a:lnSpc>
              <a:buNone/>
            </a:pPr>
            <a:endParaRPr lang="en-IN" altLang="en-US" b="1"/>
          </a:p>
          <a:p>
            <a:pPr marL="342900" indent="-342900" algn="just">
              <a:lnSpc>
                <a:spcPct val="100000"/>
              </a:lnSpc>
              <a:buAutoNum type="arabicPeriod"/>
            </a:pPr>
            <a:r>
              <a:rPr lang="en-US" altLang="en-US" b="1"/>
              <a:t>User Input Collection</a:t>
            </a:r>
            <a:endParaRPr lang="en-US" altLang="en-US" b="1"/>
          </a:p>
          <a:p>
            <a:pPr algn="just">
              <a:lnSpc>
                <a:spcPct val="100000"/>
              </a:lnSpc>
            </a:pPr>
            <a:r>
              <a:rPr lang="en-US" altLang="en-US"/>
              <a:t>The system allows users to either speak or type their input. For voice input, the speech is captured using a microphone and converted into text using the Web Speech API.</a:t>
            </a:r>
            <a:endParaRPr lang="en-US" altLang="en-US"/>
          </a:p>
          <a:p>
            <a:pPr algn="just">
              <a:lnSpc>
                <a:spcPct val="100000"/>
              </a:lnSpc>
            </a:pPr>
            <a:endParaRPr lang="en-US" altLang="en-US"/>
          </a:p>
          <a:p>
            <a:pPr marL="0" indent="0" algn="just">
              <a:lnSpc>
                <a:spcPct val="100000"/>
              </a:lnSpc>
              <a:buNone/>
            </a:pPr>
            <a:r>
              <a:rPr lang="en-IN" altLang="en-US" b="1"/>
              <a:t>2. </a:t>
            </a:r>
            <a:r>
              <a:rPr lang="en-US" altLang="en-US" b="1"/>
              <a:t>Emotion Detection</a:t>
            </a:r>
            <a:endParaRPr lang="en-US" altLang="en-US" b="1"/>
          </a:p>
          <a:p>
            <a:pPr algn="just">
              <a:lnSpc>
                <a:spcPct val="100000"/>
              </a:lnSpc>
            </a:pPr>
            <a:r>
              <a:rPr lang="en-US" altLang="en-US"/>
              <a:t>The converted or typed text is analyzed using a rule-based emotion detection model. Specific keywords related to emotions (like "stressed", "happy", or "bored") are matched to classify the user’s emotional state.</a:t>
            </a:r>
            <a:endParaRPr lang="en-US" altLang="en-US"/>
          </a:p>
          <a:p>
            <a:pPr algn="just">
              <a:lnSpc>
                <a:spcPct val="100000"/>
              </a:lnSpc>
            </a:pPr>
            <a:endParaRPr lang="en-US" altLang="en-US"/>
          </a:p>
          <a:p>
            <a:pPr algn="just">
              <a:lnSpc>
                <a:spcPct val="100000"/>
              </a:lnSpc>
            </a:pPr>
            <a:r>
              <a:rPr lang="en-IN" altLang="en-US" b="1"/>
              <a:t>3. </a:t>
            </a:r>
            <a:r>
              <a:rPr lang="en-US" altLang="en-US" b="1"/>
              <a:t>Motivational Response Generation</a:t>
            </a:r>
            <a:endParaRPr lang="en-US" altLang="en-US" b="1"/>
          </a:p>
          <a:p>
            <a:pPr algn="just">
              <a:lnSpc>
                <a:spcPct val="100000"/>
              </a:lnSpc>
            </a:pPr>
            <a:r>
              <a:rPr lang="en-US" altLang="en-US"/>
              <a:t>If the user is found to be stressed, sad, or unmotivated, the system first provides motivational or calming responses to emotionally support the user before continuing with the study material.</a:t>
            </a:r>
            <a:endParaRPr lang="en-US" altLang="en-US"/>
          </a:p>
          <a:p>
            <a:pPr algn="just">
              <a:lnSpc>
                <a:spcPct val="100000"/>
              </a:lnSpc>
            </a:pPr>
            <a:endParaRPr lang="en-US"/>
          </a:p>
          <a:p>
            <a:pPr algn="just">
              <a:lnSpc>
                <a:spcPct val="100000"/>
              </a:lnSpc>
            </a:pPr>
            <a:r>
              <a:rPr lang="en-IN" altLang="en-US" b="1"/>
              <a:t>4. </a:t>
            </a:r>
            <a:r>
              <a:rPr lang="en-US" altLang="en-US" b="1"/>
              <a:t>Topic Identification</a:t>
            </a:r>
            <a:endParaRPr lang="en-US" altLang="en-US" b="1"/>
          </a:p>
          <a:p>
            <a:pPr algn="just">
              <a:lnSpc>
                <a:spcPct val="100000"/>
              </a:lnSpc>
            </a:pPr>
            <a:r>
              <a:rPr lang="en-US" altLang="en-US"/>
              <a:t>The system scans the input for keywords that indicate the user's desired study topic (e.g., “learn about,” “study,” “revise”) and extracts the topic.</a:t>
            </a:r>
            <a:endParaRPr lang="en-US" altLang="en-US"/>
          </a:p>
        </p:txBody>
      </p:sp>
      <p:sp>
        <p:nvSpPr>
          <p:cNvPr id="3" name="Date Placeholder 2"/>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054615" y="136525"/>
            <a:ext cx="7647425" cy="595312"/>
          </a:xfrm>
        </p:spPr>
        <p:txBody>
          <a:bodyPr/>
          <a:lstStyle/>
          <a:p>
            <a:pPr eaLnBrk="1" hangingPunct="1"/>
            <a:r>
              <a:rPr lang="en-IN" altLang="en-US" sz="2600" dirty="0">
                <a:latin typeface="Bookman Old Style" panose="02050604050505020204" pitchFamily="18" charset="0"/>
                <a:ea typeface="Cambria" panose="02040503050406030204" pitchFamily="18" charset="0"/>
                <a:cs typeface="Cambria" panose="02040503050406030204" pitchFamily="18" charset="0"/>
              </a:rPr>
              <a:t>METHODOLOGY</a:t>
            </a:r>
            <a:endParaRPr lang="en-US" altLang="en-US" sz="2600" dirty="0">
              <a:latin typeface="Bookman Old Style" panose="02050604050505020204" pitchFamily="18" charset="0"/>
              <a:ea typeface="Cambria" panose="02040503050406030204" pitchFamily="18" charset="0"/>
              <a:cs typeface="Cambria" panose="02040503050406030204" pitchFamily="18" charset="0"/>
            </a:endParaRPr>
          </a:p>
        </p:txBody>
      </p:sp>
      <p:sp>
        <p:nvSpPr>
          <p:cNvPr id="18436" name="Footer Placeholder 4"/>
          <p:cNvSpPr>
            <a:spLocks noGrp="1"/>
          </p:cNvSpPr>
          <p:nvPr>
            <p:ph type="ftr" sz="quarter" idx="11"/>
          </p:nvPr>
        </p:nvSpPr>
        <p:spPr bwMode="auto">
          <a:ln>
            <a:miter lim="800000"/>
          </a:ln>
        </p:spPr>
        <p:txBody>
          <a:bodyPr wrap="square" numCol="1" anchorCtr="0" compatLnSpc="1"/>
          <a:lstStyle/>
          <a:p>
            <a:pPr fontAlgn="base">
              <a:spcBef>
                <a:spcPct val="0"/>
              </a:spcBef>
              <a:spcAft>
                <a:spcPct val="0"/>
              </a:spcAft>
              <a:defRPr/>
            </a:pPr>
            <a:r>
              <a:rPr lang="en-US" altLang="en-US" dirty="0"/>
              <a:t>© BVRIT CSE(AI &amp; ML)</a:t>
            </a:r>
            <a:endParaRPr lang="en-US" altLang="en-US" dirty="0"/>
          </a:p>
        </p:txBody>
      </p:sp>
      <p:sp>
        <p:nvSpPr>
          <p:cNvPr id="10245" name="Slide Number Placeholder 5"/>
          <p:cNvSpPr>
            <a:spLocks noGrp="1"/>
          </p:cNvSpPr>
          <p:nvPr>
            <p:ph type="sldNum" sz="quarter" idx="12"/>
          </p:nvPr>
        </p:nvSpPr>
        <p:spPr bwMode="auto">
          <a:noFill/>
          <a:ln>
            <a:miter lim="800000"/>
          </a:ln>
        </p:spPr>
        <p:txBody>
          <a:bodyPr/>
          <a:lstStyle/>
          <a:p>
            <a:fld id="{12B54055-D293-41A4-A00A-384E787F4E19}" type="slidenum">
              <a:rPr lang="en-US" altLang="en-US"/>
            </a:fld>
            <a:endParaRPr lang="en-US" altLang="en-US" dirty="0"/>
          </a:p>
        </p:txBody>
      </p:sp>
      <p:sp>
        <p:nvSpPr>
          <p:cNvPr id="2" name="Rectangle 1"/>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p:cNvSpPr>
            <a:spLocks noChangeArrowheads="1"/>
          </p:cNvSpPr>
          <p:nvPr/>
        </p:nvSpPr>
        <p:spPr bwMode="auto">
          <a:xfrm>
            <a:off x="124393" y="1259364"/>
            <a:ext cx="10739120" cy="4661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None/>
            </a:pPr>
            <a:r>
              <a:rPr kumimoji="0" lang="en-IN" altLang="en-US" sz="1800" b="1" i="0" u="none" strike="noStrike" cap="none" normalizeH="0" baseline="0" dirty="0">
                <a:ln>
                  <a:noFill/>
                </a:ln>
                <a:solidFill>
                  <a:schemeClr val="tx1"/>
                </a:solidFill>
                <a:effectLst/>
                <a:cs typeface="Bookman Old Style" panose="02050604050505020204" pitchFamily="18" charset="0"/>
              </a:rPr>
              <a:t>5. </a:t>
            </a:r>
            <a:r>
              <a:rPr kumimoji="0" lang="en-US" altLang="en-US" sz="1800" b="1" i="0" u="none" strike="noStrike" cap="none" normalizeH="0" baseline="0" dirty="0">
                <a:ln>
                  <a:noFill/>
                </a:ln>
                <a:solidFill>
                  <a:schemeClr val="tx1"/>
                </a:solidFill>
                <a:effectLst/>
                <a:cs typeface="Bookman Old Style" panose="02050604050505020204" pitchFamily="18" charset="0"/>
              </a:rPr>
              <a:t>Content Generation</a:t>
            </a:r>
            <a:endParaRPr kumimoji="0" lang="en-US" altLang="en-US" sz="1800" b="1" i="0" u="none" strike="noStrike" cap="none" normalizeH="0" baseline="0" dirty="0">
              <a:ln>
                <a:noFill/>
              </a:ln>
              <a:solidFill>
                <a:schemeClr val="tx1"/>
              </a:solidFill>
              <a:effectLst/>
              <a:cs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pPr>
            <a:r>
              <a:rPr kumimoji="0" lang="en-US" altLang="en-US" sz="1800" i="0" u="none" strike="noStrike" cap="none" normalizeH="0" baseline="0" dirty="0">
                <a:ln>
                  <a:noFill/>
                </a:ln>
                <a:solidFill>
                  <a:schemeClr val="tx1"/>
                </a:solidFill>
                <a:effectLst/>
                <a:cs typeface="Bookman Old Style" panose="02050604050505020204" pitchFamily="18" charset="0"/>
              </a:rPr>
              <a:t>Based on the identified topic, the system checks for any known formulas and fetches relevant study notes using the Wikipedia API.</a:t>
            </a:r>
            <a:endParaRPr kumimoji="0" lang="en-US" altLang="en-US" sz="1800" i="0" u="none" strike="noStrike" cap="none" normalizeH="0" baseline="0" dirty="0">
              <a:ln>
                <a:noFill/>
              </a:ln>
              <a:solidFill>
                <a:schemeClr val="tx1"/>
              </a:solidFill>
              <a:effectLst/>
              <a:cs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sz="1800" i="0" u="none" strike="noStrike" cap="none" normalizeH="0" baseline="0" dirty="0">
              <a:ln>
                <a:noFill/>
              </a:ln>
              <a:solidFill>
                <a:schemeClr val="tx1"/>
              </a:solidFill>
              <a:effectLst/>
              <a:cs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pPr>
            <a:r>
              <a:rPr kumimoji="0" lang="en-IN" altLang="en-US" sz="1800" b="1" i="0" u="none" strike="noStrike" cap="none" normalizeH="0" baseline="0" dirty="0">
                <a:ln>
                  <a:noFill/>
                </a:ln>
                <a:solidFill>
                  <a:schemeClr val="tx1"/>
                </a:solidFill>
                <a:effectLst/>
                <a:cs typeface="Bookman Old Style" panose="02050604050505020204" pitchFamily="18" charset="0"/>
              </a:rPr>
              <a:t>6. </a:t>
            </a:r>
            <a:r>
              <a:rPr kumimoji="0" lang="en-US" altLang="en-US" sz="1800" b="1" i="0" u="none" strike="noStrike" cap="none" normalizeH="0" baseline="0" dirty="0">
                <a:ln>
                  <a:noFill/>
                </a:ln>
                <a:solidFill>
                  <a:schemeClr val="tx1"/>
                </a:solidFill>
                <a:effectLst/>
                <a:cs typeface="Bookman Old Style" panose="02050604050505020204" pitchFamily="18" charset="0"/>
              </a:rPr>
              <a:t>Response Delivery</a:t>
            </a:r>
            <a:endParaRPr kumimoji="0" lang="en-US" altLang="en-US" sz="1800" b="1" i="0" u="none" strike="noStrike" cap="none" normalizeH="0" baseline="0" dirty="0">
              <a:ln>
                <a:noFill/>
              </a:ln>
              <a:solidFill>
                <a:schemeClr val="tx1"/>
              </a:solidFill>
              <a:effectLst/>
              <a:cs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pPr>
            <a:r>
              <a:rPr kumimoji="0" lang="en-US" altLang="en-US" sz="1800" i="0" u="none" strike="noStrike" cap="none" normalizeH="0" baseline="0" dirty="0">
                <a:ln>
                  <a:noFill/>
                </a:ln>
                <a:solidFill>
                  <a:schemeClr val="tx1"/>
                </a:solidFill>
                <a:effectLst/>
                <a:cs typeface="Bookman Old Style" panose="02050604050505020204" pitchFamily="18" charset="0"/>
              </a:rPr>
              <a:t>The assistant responds by displaying the motivational message (if needed), the study topic, any related formula, and notes—all through a simple text-based interface.</a:t>
            </a:r>
            <a:endParaRPr kumimoji="0" lang="en-US" altLang="en-US" sz="1800" i="0" u="none" strike="noStrike" cap="none" normalizeH="0" baseline="0" dirty="0">
              <a:ln>
                <a:noFill/>
              </a:ln>
              <a:solidFill>
                <a:schemeClr val="tx1"/>
              </a:solidFill>
              <a:effectLst/>
              <a:cs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pPr>
            <a:endParaRPr kumimoji="0" lang="en-IN" altLang="en-US" sz="1800" i="0" u="none" strike="noStrike" cap="none" normalizeH="0" baseline="0" dirty="0">
              <a:ln>
                <a:noFill/>
              </a:ln>
              <a:solidFill>
                <a:schemeClr val="tx1"/>
              </a:solidFill>
              <a:effectLst/>
              <a:cs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pPr>
            <a:r>
              <a:rPr kumimoji="0" lang="en-IN" altLang="en-US" sz="1800" b="1" i="0" u="none" strike="noStrike" cap="none" normalizeH="0" baseline="0" dirty="0">
                <a:ln>
                  <a:noFill/>
                </a:ln>
                <a:solidFill>
                  <a:schemeClr val="tx1"/>
                </a:solidFill>
                <a:effectLst/>
                <a:cs typeface="Bookman Old Style" panose="02050604050505020204" pitchFamily="18" charset="0"/>
              </a:rPr>
              <a:t>7. </a:t>
            </a:r>
            <a:r>
              <a:rPr kumimoji="0" lang="en-US" altLang="en-US" sz="1800" b="1" i="0" u="none" strike="noStrike" cap="none" normalizeH="0" baseline="0" dirty="0">
                <a:ln>
                  <a:noFill/>
                </a:ln>
                <a:solidFill>
                  <a:schemeClr val="tx1"/>
                </a:solidFill>
                <a:effectLst/>
                <a:cs typeface="Bookman Old Style" panose="02050604050505020204" pitchFamily="18" charset="0"/>
              </a:rPr>
              <a:t>Real-Time Adaptability</a:t>
            </a:r>
            <a:endParaRPr kumimoji="0" lang="en-US" altLang="en-US" sz="1800" b="1" i="0" u="none" strike="noStrike" cap="none" normalizeH="0" baseline="0" dirty="0">
              <a:ln>
                <a:noFill/>
              </a:ln>
              <a:solidFill>
                <a:schemeClr val="tx1"/>
              </a:solidFill>
              <a:effectLst/>
              <a:cs typeface="Bookman Old Style" panose="02050604050505020204" pitchFamily="18" charset="0"/>
            </a:endParaRPr>
          </a:p>
          <a:p>
            <a:pPr marL="0" marR="0" lvl="0" indent="0" algn="just" defTabSz="914400" rtl="0" eaLnBrk="0" fontAlgn="base" latinLnBrk="0" hangingPunct="0">
              <a:lnSpc>
                <a:spcPct val="150000"/>
              </a:lnSpc>
              <a:spcBef>
                <a:spcPct val="0"/>
              </a:spcBef>
              <a:spcAft>
                <a:spcPct val="0"/>
              </a:spcAft>
              <a:buClrTx/>
              <a:buSzTx/>
              <a:buFontTx/>
              <a:buNone/>
            </a:pPr>
            <a:r>
              <a:rPr kumimoji="0" lang="en-US" altLang="en-US" sz="1800" i="0" u="none" strike="noStrike" cap="none" normalizeH="0" baseline="0" dirty="0">
                <a:ln>
                  <a:noFill/>
                </a:ln>
                <a:solidFill>
                  <a:schemeClr val="tx1"/>
                </a:solidFill>
                <a:effectLst/>
                <a:cs typeface="Bookman Old Style" panose="02050604050505020204" pitchFamily="18" charset="0"/>
              </a:rPr>
              <a:t>The assistant runs in a loop, allowing continuous interaction. It dynamically adapts based on the user's ongoing emotional and academic input, making the experience more personalized.</a:t>
            </a:r>
            <a:endParaRPr kumimoji="0" lang="en-US" altLang="en-US" sz="1800" i="0" u="none" strike="noStrike" cap="none" normalizeH="0" baseline="0" dirty="0">
              <a:ln>
                <a:noFill/>
              </a:ln>
              <a:solidFill>
                <a:schemeClr val="tx1"/>
              </a:solidFill>
              <a:effectLst/>
              <a:cs typeface="Bookman Old Style" panose="02050604050505020204" pitchFamily="18" charset="0"/>
            </a:endParaRPr>
          </a:p>
        </p:txBody>
      </p:sp>
      <p:sp>
        <p:nvSpPr>
          <p:cNvPr id="3" name="Date Placeholder 2"/>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ARCHITECTURE</a:t>
            </a:r>
            <a:endParaRPr lang="en-IN" altLang="en-US"/>
          </a:p>
        </p:txBody>
      </p:sp>
      <p:pic>
        <p:nvPicPr>
          <p:cNvPr id="7" name="Content Placeholder 6" descr="Screenshot 2025-05-29 193439"/>
          <p:cNvPicPr>
            <a:picLocks noChangeAspect="1"/>
          </p:cNvPicPr>
          <p:nvPr>
            <p:ph idx="1"/>
          </p:nvPr>
        </p:nvPicPr>
        <p:blipFill>
          <a:blip r:embed="rId1"/>
          <a:stretch>
            <a:fillRect/>
          </a:stretch>
        </p:blipFill>
        <p:spPr>
          <a:xfrm rot="5400000">
            <a:off x="3427095" y="358140"/>
            <a:ext cx="5172710" cy="6500495"/>
          </a:xfrm>
          <a:prstGeom prst="rect">
            <a:avLst/>
          </a:prstGeom>
        </p:spPr>
      </p:pic>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
        <p:nvSpPr>
          <p:cNvPr id="5" name="Footer Placeholder 4"/>
          <p:cNvSpPr>
            <a:spLocks noGrp="1"/>
          </p:cNvSpPr>
          <p:nvPr>
            <p:ph type="ftr" sz="quarter" idx="11"/>
          </p:nvPr>
        </p:nvSpPr>
        <p:spPr/>
        <p:txBody>
          <a:bodyPr/>
          <a:p>
            <a:pPr>
              <a:defRPr/>
            </a:pPr>
            <a:r>
              <a:rPr lang="en-US" dirty="0"/>
              <a:t>© BVRIT CSE(AI &amp; ML)</a:t>
            </a:r>
            <a:endParaRPr lang="en-US" dirty="0"/>
          </a:p>
        </p:txBody>
      </p:sp>
      <p:sp>
        <p:nvSpPr>
          <p:cNvPr id="6" name="Slide Number Placeholder 5"/>
          <p:cNvSpPr>
            <a:spLocks noGrp="1"/>
          </p:cNvSpPr>
          <p:nvPr>
            <p:ph type="sldNum" sz="quarter" idx="12"/>
          </p:nvPr>
        </p:nvSpPr>
        <p:spPr/>
        <p:txBody>
          <a:bodyPr/>
          <a:p>
            <a:pPr>
              <a:defRPr/>
            </a:pPr>
            <a:fld id="{2D96E056-3901-41CB-802B-E67DADB7F3B2}" type="slidenum">
              <a:rPr lang="en-US" altLang="en-US"/>
            </a:fld>
            <a:endParaRPr lang="en-US" altLang="en-US" dirty="0"/>
          </a:p>
        </p:txBody>
      </p:sp>
      <p:sp>
        <p:nvSpPr>
          <p:cNvPr id="8" name="Text Box 7"/>
          <p:cNvSpPr txBox="1"/>
          <p:nvPr/>
        </p:nvSpPr>
        <p:spPr>
          <a:xfrm>
            <a:off x="3225800" y="5930900"/>
            <a:ext cx="5760720" cy="368300"/>
          </a:xfrm>
          <a:prstGeom prst="rect">
            <a:avLst/>
          </a:prstGeom>
          <a:noFill/>
        </p:spPr>
        <p:txBody>
          <a:bodyPr wrap="square" rtlCol="0">
            <a:spAutoFit/>
          </a:bodyPr>
          <a:p>
            <a:pPr algn="ctr"/>
            <a:r>
              <a:rPr lang="en-IN" altLang="en-US"/>
              <a:t>Fig. Architecture of the model</a:t>
            </a:r>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IN" altLang="en-US" sz="2600" dirty="0">
                <a:latin typeface="Bookman Old Style" panose="02050604050505020204" pitchFamily="18" charset="0"/>
                <a:ea typeface="Cambria" panose="02040503050406030204" pitchFamily="18" charset="0"/>
                <a:cs typeface="Cambria" panose="02040503050406030204" pitchFamily="18" charset="0"/>
              </a:rPr>
              <a:t>FLOWCHART</a:t>
            </a:r>
            <a:endParaRPr lang="en-IN" altLang="en-US" sz="2600" dirty="0">
              <a:latin typeface="Bookman Old Style" panose="02050604050505020204" pitchFamily="18" charset="0"/>
              <a:ea typeface="Cambria" panose="02040503050406030204" pitchFamily="18" charset="0"/>
              <a:cs typeface="Cambria" panose="02040503050406030204" pitchFamily="18" charset="0"/>
            </a:endParaRPr>
          </a:p>
        </p:txBody>
      </p:sp>
      <p:sp>
        <p:nvSpPr>
          <p:cNvPr id="14340" name="Footer Placeholder 4"/>
          <p:cNvSpPr>
            <a:spLocks noGrp="1"/>
          </p:cNvSpPr>
          <p:nvPr>
            <p:ph type="ftr" sz="quarter" idx="11"/>
          </p:nvPr>
        </p:nvSpPr>
        <p:spPr bwMode="auto">
          <a:ln>
            <a:miter lim="800000"/>
          </a:ln>
        </p:spPr>
        <p:txBody>
          <a:bodyPr wrap="square" numCol="1" anchorCtr="0" compatLnSpc="1"/>
          <a:lstStyle/>
          <a:p>
            <a:pPr fontAlgn="base">
              <a:spcBef>
                <a:spcPct val="0"/>
              </a:spcBef>
              <a:spcAft>
                <a:spcPct val="0"/>
              </a:spcAft>
              <a:defRPr/>
            </a:pPr>
            <a:r>
              <a:rPr lang="en-US" altLang="en-US" dirty="0"/>
              <a:t>© BVRIT CSE(AI &amp; ML)</a:t>
            </a:r>
            <a:endParaRPr lang="en-US" altLang="en-US" dirty="0"/>
          </a:p>
        </p:txBody>
      </p:sp>
      <p:sp>
        <p:nvSpPr>
          <p:cNvPr id="8197" name="Slide Number Placeholder 5"/>
          <p:cNvSpPr>
            <a:spLocks noGrp="1"/>
          </p:cNvSpPr>
          <p:nvPr>
            <p:ph type="sldNum" sz="quarter" idx="12"/>
          </p:nvPr>
        </p:nvSpPr>
        <p:spPr bwMode="auto">
          <a:noFill/>
          <a:ln>
            <a:miter lim="800000"/>
          </a:ln>
        </p:spPr>
        <p:txBody>
          <a:bodyPr/>
          <a:lstStyle/>
          <a:p>
            <a:fld id="{AC1B60DE-F864-4470-AF66-D6DAEC10DD8E}" type="slidenum">
              <a:rPr lang="en-US" altLang="en-US"/>
            </a:fld>
            <a:endParaRPr lang="en-US" altLang="en-US" dirty="0"/>
          </a:p>
        </p:txBody>
      </p:sp>
      <p:sp>
        <p:nvSpPr>
          <p:cNvPr id="5" name="TextBox 4"/>
          <p:cNvSpPr txBox="1"/>
          <p:nvPr/>
        </p:nvSpPr>
        <p:spPr>
          <a:xfrm>
            <a:off x="677545" y="1044575"/>
            <a:ext cx="5418455" cy="4995545"/>
          </a:xfrm>
          <a:prstGeom prst="rect">
            <a:avLst/>
          </a:prstGeom>
          <a:noFill/>
        </p:spPr>
        <p:txBody>
          <a:bodyPr wrap="square" rtlCol="0">
            <a:noAutofit/>
          </a:bodyPr>
          <a:lstStyle/>
          <a:p>
            <a:pPr algn="just">
              <a:lnSpc>
                <a:spcPct val="150000"/>
              </a:lnSpc>
            </a:pPr>
            <a:endParaRPr lang="en-US" altLang="en-US" dirty="0"/>
          </a:p>
        </p:txBody>
      </p:sp>
      <p:pic>
        <p:nvPicPr>
          <p:cNvPr id="2" name="Picture 1" descr="Screenshot 2025-04-21 145740"/>
          <p:cNvPicPr>
            <a:picLocks noChangeAspect="1"/>
          </p:cNvPicPr>
          <p:nvPr/>
        </p:nvPicPr>
        <p:blipFill>
          <a:blip r:embed="rId1"/>
          <a:stretch>
            <a:fillRect/>
          </a:stretch>
        </p:blipFill>
        <p:spPr>
          <a:xfrm>
            <a:off x="2074545" y="973455"/>
            <a:ext cx="7685405" cy="4632325"/>
          </a:xfrm>
          <a:prstGeom prst="rect">
            <a:avLst/>
          </a:prstGeom>
        </p:spPr>
      </p:pic>
      <p:sp>
        <p:nvSpPr>
          <p:cNvPr id="3" name="Text Box 2"/>
          <p:cNvSpPr txBox="1"/>
          <p:nvPr/>
        </p:nvSpPr>
        <p:spPr>
          <a:xfrm>
            <a:off x="2374265" y="5541645"/>
            <a:ext cx="8669020" cy="368300"/>
          </a:xfrm>
          <a:prstGeom prst="rect">
            <a:avLst/>
          </a:prstGeom>
          <a:noFill/>
        </p:spPr>
        <p:txBody>
          <a:bodyPr wrap="square" rtlCol="0">
            <a:spAutoFit/>
          </a:bodyPr>
          <a:p>
            <a:pPr algn="l"/>
            <a:r>
              <a:rPr lang="en-IN" altLang="en-US"/>
              <a:t>                   Fig. Flowchart of the working process</a:t>
            </a:r>
            <a:endParaRPr lang="en-IN" altLang="en-US"/>
          </a:p>
        </p:txBody>
      </p:sp>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2600" dirty="0"/>
              <a:t>IMPLEMENTATION</a:t>
            </a:r>
            <a:endParaRPr lang="en-IN" altLang="en-US" sz="2600" dirty="0"/>
          </a:p>
        </p:txBody>
      </p:sp>
      <p:sp>
        <p:nvSpPr>
          <p:cNvPr id="5" name="Footer Placeholder 4"/>
          <p:cNvSpPr>
            <a:spLocks noGrp="1"/>
          </p:cNvSpPr>
          <p:nvPr>
            <p:ph type="ftr" sz="quarter" idx="11"/>
          </p:nvPr>
        </p:nvSpPr>
        <p:spPr/>
        <p:txBody>
          <a:bodyPr/>
          <a:lstStyle/>
          <a:p>
            <a:pPr>
              <a:defRPr/>
            </a:pPr>
            <a:r>
              <a:rPr lang="en-US" dirty="0"/>
              <a:t>© BVRIT CSE(AI &amp; ML)</a:t>
            </a:r>
            <a:endParaRPr lang="en-US" dirty="0"/>
          </a:p>
        </p:txBody>
      </p:sp>
      <p:sp>
        <p:nvSpPr>
          <p:cNvPr id="6" name="Slide Number Placeholder 5"/>
          <p:cNvSpPr>
            <a:spLocks noGrp="1"/>
          </p:cNvSpPr>
          <p:nvPr>
            <p:ph type="sldNum" sz="quarter" idx="12"/>
          </p:nvPr>
        </p:nvSpPr>
        <p:spPr/>
        <p:txBody>
          <a:bodyPr/>
          <a:lstStyle/>
          <a:p>
            <a:pPr>
              <a:defRPr/>
            </a:pPr>
            <a:fld id="{2D96E056-3901-41CB-802B-E67DADB7F3B2}" type="slidenum">
              <a:rPr lang="en-US" altLang="en-US" smtClean="0"/>
            </a:fld>
            <a:endParaRPr lang="en-US" altLang="en-US" dirty="0"/>
          </a:p>
        </p:txBody>
      </p:sp>
      <p:sp>
        <p:nvSpPr>
          <p:cNvPr id="4" name="TextBox 3"/>
          <p:cNvSpPr txBox="1"/>
          <p:nvPr/>
        </p:nvSpPr>
        <p:spPr>
          <a:xfrm>
            <a:off x="346710" y="1412875"/>
            <a:ext cx="11331575" cy="4773930"/>
          </a:xfrm>
          <a:prstGeom prst="rect">
            <a:avLst/>
          </a:prstGeom>
          <a:noFill/>
        </p:spPr>
        <p:txBody>
          <a:bodyPr wrap="square">
            <a:noAutofit/>
          </a:bodyPr>
          <a:lstStyle/>
          <a:p>
            <a:pPr marL="342900" indent="-342900" algn="just">
              <a:buFont typeface="+mj-lt"/>
              <a:buAutoNum type="arabicPeriod"/>
            </a:pPr>
            <a:r>
              <a:rPr lang="en-US" altLang="en-US" sz="1800" dirty="0"/>
              <a:t>The study assistant was built in Python for its readability and rich library support. It accepts input via text or voice, using the speech_recognition library.</a:t>
            </a:r>
            <a:endParaRPr lang="en-US" altLang="en-US" sz="1800" dirty="0"/>
          </a:p>
          <a:p>
            <a:pPr marL="342900" indent="-342900" algn="just">
              <a:buFont typeface="+mj-lt"/>
              <a:buAutoNum type="arabicPeriod"/>
            </a:pPr>
            <a:endParaRPr lang="en-US" altLang="en-US" sz="1800" dirty="0"/>
          </a:p>
          <a:p>
            <a:pPr marL="342900" indent="-342900" algn="just">
              <a:buFont typeface="+mj-lt"/>
              <a:buAutoNum type="arabicPeriod"/>
            </a:pPr>
            <a:r>
              <a:rPr lang="en-US" altLang="en-US" sz="1800" dirty="0"/>
              <a:t>The assistant uses a rule-based method to detect emotions from input by matching keywords to predefined emotional cues. If detected, it displays a relevant motivational message.</a:t>
            </a:r>
            <a:endParaRPr lang="en-US" altLang="en-US" sz="1800" dirty="0"/>
          </a:p>
          <a:p>
            <a:pPr marL="342900" indent="-342900" algn="just">
              <a:buFont typeface="+mj-lt"/>
              <a:buAutoNum type="arabicPeriod"/>
            </a:pPr>
            <a:endParaRPr lang="en-US" altLang="en-US" sz="1800" dirty="0"/>
          </a:p>
          <a:p>
            <a:pPr marL="342900" indent="-342900" algn="just">
              <a:buFont typeface="+mj-lt"/>
              <a:buAutoNum type="arabicPeriod"/>
            </a:pPr>
            <a:r>
              <a:rPr lang="en-US" altLang="en-US" sz="1800" dirty="0"/>
              <a:t>The assistant identifies study topics using pattern matching (e.g., phrases like “learn about”) and checks them against a dictionary of predefined formulas. If matched, it displays the relevant formula.</a:t>
            </a:r>
            <a:endParaRPr lang="en-US" altLang="en-US" sz="1800" dirty="0"/>
          </a:p>
          <a:p>
            <a:pPr marL="342900" indent="-342900" algn="just">
              <a:buFont typeface="+mj-lt"/>
              <a:buAutoNum type="arabicPeriod"/>
            </a:pPr>
            <a:endParaRPr lang="en-US" altLang="en-US" sz="1800" dirty="0"/>
          </a:p>
          <a:p>
            <a:pPr marL="342900" indent="-342900" algn="just">
              <a:buFont typeface="+mj-lt"/>
              <a:buAutoNum type="arabicPeriod"/>
            </a:pPr>
            <a:r>
              <a:rPr lang="en-US" altLang="en-US" sz="1800" dirty="0"/>
              <a:t>If no formula matches, the assistant fetches a summary from Wikipedia and displays it. The output includes motivation (if needed), a formula (if available), and concise study notes in a clean terminal view.</a:t>
            </a:r>
            <a:endParaRPr lang="en-US" altLang="en-US" sz="1800" dirty="0"/>
          </a:p>
          <a:p>
            <a:pPr marL="342900" indent="-342900">
              <a:buFont typeface="+mj-lt"/>
              <a:buAutoNum type="arabicPeriod"/>
            </a:pPr>
            <a:endParaRPr lang="en-US" altLang="en-US" sz="1700" dirty="0"/>
          </a:p>
          <a:p>
            <a:pPr marL="342900" indent="-342900">
              <a:buFont typeface="+mj-lt"/>
              <a:buAutoNum type="arabicPeriod"/>
            </a:pPr>
            <a:endParaRPr lang="en-US" altLang="en-US" sz="1700" dirty="0"/>
          </a:p>
        </p:txBody>
      </p:sp>
      <p:sp>
        <p:nvSpPr>
          <p:cNvPr id="3" name="Date Placeholder 2"/>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RESULTS</a:t>
            </a:r>
            <a:endParaRPr lang="en-IN" altLang="en-US"/>
          </a:p>
        </p:txBody>
      </p:sp>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
        <p:nvSpPr>
          <p:cNvPr id="5" name="Footer Placeholder 4"/>
          <p:cNvSpPr>
            <a:spLocks noGrp="1"/>
          </p:cNvSpPr>
          <p:nvPr>
            <p:ph type="ftr" sz="quarter" idx="11"/>
          </p:nvPr>
        </p:nvSpPr>
        <p:spPr/>
        <p:txBody>
          <a:bodyPr/>
          <a:p>
            <a:pPr>
              <a:defRPr/>
            </a:pPr>
            <a:r>
              <a:rPr lang="en-US" dirty="0"/>
              <a:t>© BVRIT CSE(AI &amp; ML)</a:t>
            </a:r>
            <a:endParaRPr lang="en-US" dirty="0"/>
          </a:p>
        </p:txBody>
      </p:sp>
      <p:sp>
        <p:nvSpPr>
          <p:cNvPr id="6" name="Slide Number Placeholder 5"/>
          <p:cNvSpPr>
            <a:spLocks noGrp="1"/>
          </p:cNvSpPr>
          <p:nvPr>
            <p:ph type="sldNum" sz="quarter" idx="12"/>
          </p:nvPr>
        </p:nvSpPr>
        <p:spPr/>
        <p:txBody>
          <a:bodyPr/>
          <a:p>
            <a:pPr>
              <a:defRPr/>
            </a:pPr>
            <a:fld id="{2D96E056-3901-41CB-802B-E67DADB7F3B2}" type="slidenum">
              <a:rPr lang="en-US" altLang="en-US"/>
            </a:fld>
            <a:endParaRPr lang="en-US" altLang="en-US" dirty="0"/>
          </a:p>
        </p:txBody>
      </p:sp>
      <p:sp>
        <p:nvSpPr>
          <p:cNvPr id="11" name="Text Box 10"/>
          <p:cNvSpPr txBox="1"/>
          <p:nvPr/>
        </p:nvSpPr>
        <p:spPr>
          <a:xfrm>
            <a:off x="6542405" y="1128395"/>
            <a:ext cx="2459990" cy="368300"/>
          </a:xfrm>
          <a:prstGeom prst="rect">
            <a:avLst/>
          </a:prstGeom>
          <a:noFill/>
        </p:spPr>
        <p:txBody>
          <a:bodyPr wrap="square" rtlCol="0">
            <a:spAutoFit/>
          </a:bodyPr>
          <a:p>
            <a:r>
              <a:rPr lang="en-US" altLang="en-IN"/>
              <a:t>TEXT INPUT</a:t>
            </a:r>
            <a:endParaRPr lang="en-US" altLang="en-IN"/>
          </a:p>
        </p:txBody>
      </p:sp>
      <p:sp>
        <p:nvSpPr>
          <p:cNvPr id="12" name="Text Box 11"/>
          <p:cNvSpPr txBox="1"/>
          <p:nvPr/>
        </p:nvSpPr>
        <p:spPr>
          <a:xfrm>
            <a:off x="7224395" y="3902710"/>
            <a:ext cx="2481580" cy="368300"/>
          </a:xfrm>
          <a:prstGeom prst="rect">
            <a:avLst/>
          </a:prstGeom>
          <a:noFill/>
        </p:spPr>
        <p:txBody>
          <a:bodyPr wrap="square" rtlCol="0">
            <a:spAutoFit/>
          </a:bodyPr>
          <a:p>
            <a:r>
              <a:rPr lang="en-US" altLang="en-IN"/>
              <a:t>SPEECH INPUT</a:t>
            </a:r>
            <a:endParaRPr lang="en-US" altLang="en-IN"/>
          </a:p>
        </p:txBody>
      </p:sp>
      <p:pic>
        <p:nvPicPr>
          <p:cNvPr id="13" name="Content Placeholder 12" descr="Screenshot 2025-04-22 113622"/>
          <p:cNvPicPr>
            <a:picLocks noChangeAspect="1"/>
          </p:cNvPicPr>
          <p:nvPr>
            <p:ph idx="1"/>
          </p:nvPr>
        </p:nvPicPr>
        <p:blipFill>
          <a:blip r:embed="rId1"/>
          <a:stretch>
            <a:fillRect/>
          </a:stretch>
        </p:blipFill>
        <p:spPr>
          <a:xfrm>
            <a:off x="184150" y="1025525"/>
            <a:ext cx="5149215" cy="1771650"/>
          </a:xfrm>
          <a:prstGeom prst="rect">
            <a:avLst/>
          </a:prstGeom>
        </p:spPr>
      </p:pic>
      <p:pic>
        <p:nvPicPr>
          <p:cNvPr id="14" name="Picture 13" descr="Screenshot 2025-04-22 113643"/>
          <p:cNvPicPr>
            <a:picLocks noChangeAspect="1"/>
          </p:cNvPicPr>
          <p:nvPr/>
        </p:nvPicPr>
        <p:blipFill>
          <a:blip r:embed="rId2"/>
          <a:stretch>
            <a:fillRect/>
          </a:stretch>
        </p:blipFill>
        <p:spPr>
          <a:xfrm>
            <a:off x="184150" y="2205355"/>
            <a:ext cx="10630535" cy="1470025"/>
          </a:xfrm>
          <a:prstGeom prst="rect">
            <a:avLst/>
          </a:prstGeom>
        </p:spPr>
      </p:pic>
      <p:pic>
        <p:nvPicPr>
          <p:cNvPr id="3" name="Picture 2" descr="Screenshot 2025-05-06 103230"/>
          <p:cNvPicPr>
            <a:picLocks noChangeAspect="1"/>
          </p:cNvPicPr>
          <p:nvPr/>
        </p:nvPicPr>
        <p:blipFill>
          <a:blip r:embed="rId3"/>
          <a:stretch>
            <a:fillRect/>
          </a:stretch>
        </p:blipFill>
        <p:spPr>
          <a:xfrm>
            <a:off x="184150" y="4178935"/>
            <a:ext cx="10712450" cy="20402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042697" y="136525"/>
            <a:ext cx="9869487" cy="595312"/>
          </a:xfrm>
        </p:spPr>
        <p:txBody>
          <a:bodyPr/>
          <a:lstStyle/>
          <a:p>
            <a:pPr eaLnBrk="1" hangingPunct="1"/>
            <a:r>
              <a:rPr lang="en-IN" altLang="en-US" sz="2600" dirty="0">
                <a:latin typeface="Bookman Old Style" panose="02050604050505020204" pitchFamily="18" charset="0"/>
                <a:ea typeface="Cambria" panose="02040503050406030204" pitchFamily="18" charset="0"/>
                <a:cs typeface="Cambria" panose="02040503050406030204" pitchFamily="18" charset="0"/>
              </a:rPr>
              <a:t>CONCLUSION</a:t>
            </a:r>
            <a:endParaRPr lang="en-IN" altLang="en-US" sz="2600" dirty="0">
              <a:latin typeface="Bookman Old Style" panose="02050604050505020204" pitchFamily="18" charset="0"/>
              <a:ea typeface="Cambria" panose="02040503050406030204" pitchFamily="18" charset="0"/>
              <a:cs typeface="Cambria" panose="02040503050406030204" pitchFamily="18" charset="0"/>
            </a:endParaRPr>
          </a:p>
        </p:txBody>
      </p:sp>
      <p:sp>
        <p:nvSpPr>
          <p:cNvPr id="46084" name="Footer Placeholder 4"/>
          <p:cNvSpPr>
            <a:spLocks noGrp="1"/>
          </p:cNvSpPr>
          <p:nvPr>
            <p:ph type="ftr" sz="quarter" idx="11"/>
          </p:nvPr>
        </p:nvSpPr>
        <p:spPr bwMode="auto">
          <a:ln>
            <a:miter lim="800000"/>
          </a:ln>
        </p:spPr>
        <p:txBody>
          <a:bodyPr wrap="square" numCol="1" anchorCtr="0" compatLnSpc="1"/>
          <a:lstStyle/>
          <a:p>
            <a:pPr fontAlgn="base">
              <a:spcBef>
                <a:spcPct val="0"/>
              </a:spcBef>
              <a:spcAft>
                <a:spcPct val="0"/>
              </a:spcAft>
              <a:defRPr/>
            </a:pPr>
            <a:r>
              <a:rPr lang="en-US" altLang="en-US" dirty="0"/>
              <a:t>© BVRIT CSE(AI &amp; ML)</a:t>
            </a:r>
            <a:endParaRPr lang="en-US" altLang="en-US" dirty="0"/>
          </a:p>
        </p:txBody>
      </p:sp>
      <p:sp>
        <p:nvSpPr>
          <p:cNvPr id="13317" name="Slide Number Placeholder 5"/>
          <p:cNvSpPr>
            <a:spLocks noGrp="1"/>
          </p:cNvSpPr>
          <p:nvPr>
            <p:ph type="sldNum" sz="quarter" idx="12"/>
          </p:nvPr>
        </p:nvSpPr>
        <p:spPr bwMode="auto">
          <a:noFill/>
          <a:ln>
            <a:miter lim="800000"/>
          </a:ln>
        </p:spPr>
        <p:txBody>
          <a:bodyPr/>
          <a:lstStyle/>
          <a:p>
            <a:fld id="{2F6DD997-5713-41AC-901E-348356D9C375}" type="slidenum">
              <a:rPr lang="en-US" altLang="en-US"/>
            </a:fld>
            <a:endParaRPr lang="en-US" altLang="en-US" dirty="0"/>
          </a:p>
        </p:txBody>
      </p:sp>
      <p:sp>
        <p:nvSpPr>
          <p:cNvPr id="2" name="TextBox 1"/>
          <p:cNvSpPr txBox="1"/>
          <p:nvPr/>
        </p:nvSpPr>
        <p:spPr>
          <a:xfrm>
            <a:off x="-3195084" y="2728814"/>
            <a:ext cx="2163726" cy="954107"/>
          </a:xfrm>
          <a:prstGeom prst="rect">
            <a:avLst/>
          </a:prstGeom>
          <a:noFill/>
        </p:spPr>
        <p:txBody>
          <a:bodyPr wrap="square" rtlCol="0">
            <a:spAutoFit/>
          </a:bodyPr>
          <a:lstStyle/>
          <a:p>
            <a:endParaRPr lang="en-IN" sz="1400" kern="1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endParaRPr>
          </a:p>
          <a:p>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459105" y="2950845"/>
            <a:ext cx="10585450" cy="3295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endParaRPr kumimoji="0" lang="en-IN" altLang="en-US" sz="2800" b="1" i="0" u="none" strike="noStrike" cap="none" normalizeH="0" baseline="0" dirty="0">
              <a:ln>
                <a:noFill/>
              </a:ln>
              <a:solidFill>
                <a:srgbClr val="002060"/>
              </a:solidFill>
              <a:effectLst/>
              <a:latin typeface="+mj-lt"/>
            </a:endParaRPr>
          </a:p>
          <a:p>
            <a:endParaRPr kumimoji="0" lang="en-IN" altLang="en-US" sz="2800" b="1" i="0" u="none" strike="noStrike" cap="none" normalizeH="0" baseline="0" dirty="0">
              <a:ln>
                <a:noFill/>
              </a:ln>
              <a:solidFill>
                <a:srgbClr val="002060"/>
              </a:solidFill>
              <a:effectLst/>
              <a:latin typeface="+mj-lt"/>
            </a:endParaRPr>
          </a:p>
          <a:p>
            <a:endParaRPr kumimoji="0" lang="en-US" altLang="en-US" sz="2800" b="1" i="0" u="none" strike="noStrike" cap="none" normalizeH="0" baseline="0" dirty="0">
              <a:ln>
                <a:noFill/>
              </a:ln>
              <a:solidFill>
                <a:srgbClr val="002060"/>
              </a:solidFill>
              <a:effectLst/>
              <a:latin typeface="+mj-lt"/>
            </a:endParaRPr>
          </a:p>
          <a:p>
            <a:endParaRPr kumimoji="0" lang="en-US" altLang="en-US" sz="2800" b="1" i="0" u="none" strike="noStrike" cap="none" normalizeH="0" baseline="0" dirty="0">
              <a:ln>
                <a:noFill/>
              </a:ln>
              <a:solidFill>
                <a:srgbClr val="002060"/>
              </a:solidFill>
              <a:effectLst/>
              <a:latin typeface="+mj-lt"/>
            </a:endParaRPr>
          </a:p>
        </p:txBody>
      </p:sp>
      <mc:AlternateContent xmlns:mc="http://schemas.openxmlformats.org/markup-compatibility/2006" xmlns:p14="http://schemas.microsoft.com/office/powerpoint/2010/main">
        <mc:Choice Requires="p14">
          <p:contentPart r:id="rId1" p14:bwMode="auto">
            <p14:nvContentPartPr>
              <p14:cNvPr id="3" name="Ink 2"/>
              <p14:cNvContentPartPr/>
              <p14:nvPr/>
            </p14:nvContentPartPr>
            <p14:xfrm>
              <a:off x="4896600" y="3962480"/>
              <a:ext cx="360" cy="360"/>
            </p14:xfrm>
          </p:contentPart>
        </mc:Choice>
        <mc:Fallback xmlns="">
          <p:pic>
            <p:nvPicPr>
              <p:cNvPr id="3" name="Ink 2"/>
            </p:nvPicPr>
            <p:blipFill>
              <a:blip r:embed="rId2"/>
            </p:blipFill>
            <p:spPr>
              <a:xfrm>
                <a:off x="4896600" y="3962480"/>
                <a:ext cx="360" cy="360"/>
              </a:xfrm>
              <a:prstGeom prst="rect"/>
            </p:spPr>
          </p:pic>
        </mc:Fallback>
      </mc:AlternateContent>
      <p:sp>
        <p:nvSpPr>
          <p:cNvPr id="5" name="Text Box 4"/>
          <p:cNvSpPr txBox="1"/>
          <p:nvPr/>
        </p:nvSpPr>
        <p:spPr>
          <a:xfrm>
            <a:off x="459105" y="2254885"/>
            <a:ext cx="11173460" cy="2169160"/>
          </a:xfrm>
          <a:prstGeom prst="rect">
            <a:avLst/>
          </a:prstGeom>
          <a:noFill/>
        </p:spPr>
        <p:txBody>
          <a:bodyPr wrap="square" rtlCol="0">
            <a:noAutofit/>
          </a:bodyPr>
          <a:p>
            <a:pPr algn="just"/>
            <a:r>
              <a:rPr lang="en-US" altLang="en-US" sz="1800" dirty="0">
                <a:sym typeface="+mn-ea"/>
              </a:rPr>
              <a:t>The study assistant effectively combines emotion detection, topic recognition, formula retrieval, and Wikipedia-based summarization to support learners in a personalized way. By integrating speech recognition, it offers a natural and accessible interface. Though simple, it highlights how AI can enhance learning by being both informative and emotionally responsive. Future improvements could expand its capabilities and refine user experience.</a:t>
            </a:r>
            <a:endParaRPr lang="en-US" altLang="en-US" sz="1800" dirty="0"/>
          </a:p>
        </p:txBody>
      </p:sp>
      <p:sp>
        <p:nvSpPr>
          <p:cNvPr id="6" name="Text Box 5"/>
          <p:cNvSpPr txBox="1"/>
          <p:nvPr/>
        </p:nvSpPr>
        <p:spPr>
          <a:xfrm>
            <a:off x="2020570" y="3804285"/>
            <a:ext cx="4064000" cy="368300"/>
          </a:xfrm>
          <a:prstGeom prst="rect">
            <a:avLst/>
          </a:prstGeom>
          <a:noFill/>
        </p:spPr>
        <p:txBody>
          <a:bodyPr wrap="square" rtlCol="0">
            <a:spAutoFit/>
          </a:bodyPr>
          <a:p>
            <a:endParaRPr lang="en-US"/>
          </a:p>
        </p:txBody>
      </p:sp>
      <p:sp>
        <p:nvSpPr>
          <p:cNvPr id="7" name="Date Placeholder 6"/>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REFERENCES</a:t>
            </a:r>
            <a:endParaRPr lang="en-IN" altLang="en-US"/>
          </a:p>
        </p:txBody>
      </p:sp>
      <p:sp>
        <p:nvSpPr>
          <p:cNvPr id="3" name="Content Placeholder 2"/>
          <p:cNvSpPr>
            <a:spLocks noGrp="1"/>
          </p:cNvSpPr>
          <p:nvPr>
            <p:ph idx="1"/>
          </p:nvPr>
        </p:nvSpPr>
        <p:spPr>
          <a:xfrm>
            <a:off x="1129030" y="1085850"/>
            <a:ext cx="9767570" cy="5102225"/>
          </a:xfrm>
        </p:spPr>
        <p:txBody>
          <a:bodyPr/>
          <a:p>
            <a:pPr marL="342900" indent="-342900" algn="just">
              <a:buAutoNum type="arabicPeriod"/>
            </a:pPr>
            <a:r>
              <a:rPr lang="en-US" altLang="en-US" sz="1800" b="1"/>
              <a:t>“Adaptive Virtual Assistant Interaction through Real-Time Speech Emotion Analysis Using Hybrid Deep Learning Models and Contextual Awareness”</a:t>
            </a:r>
            <a:r>
              <a:rPr lang="en-US" altLang="en-US" sz="1800"/>
              <a:t> - Elham Karim Zadeh &amp; Maryam Alaeifard. </a:t>
            </a:r>
            <a:endParaRPr lang="en-US" altLang="en-US" sz="1800"/>
          </a:p>
          <a:p>
            <a:pPr marL="342900" indent="-342900" algn="just">
              <a:buAutoNum type="arabicPeriod"/>
            </a:pPr>
            <a:r>
              <a:rPr lang="en-US" altLang="en-US" sz="1800" b="1"/>
              <a:t>“Emotion-Aware Voice Interfaces Based on Speech Signal Processing” </a:t>
            </a:r>
            <a:r>
              <a:rPr lang="en-US" altLang="en-US" sz="1800"/>
              <a:t>- Yong Ma.</a:t>
            </a:r>
            <a:endParaRPr lang="en-US" altLang="en-US" sz="1800"/>
          </a:p>
          <a:p>
            <a:pPr marL="342900" indent="-342900" algn="just">
              <a:buAutoNum type="arabicPeriod"/>
            </a:pPr>
            <a:r>
              <a:rPr lang="en-US" altLang="en-US" sz="1800" b="1"/>
              <a:t> “Auditive Emotion Recognition for Empathic  AI‑Assistants”</a:t>
            </a:r>
            <a:r>
              <a:rPr lang="en-US" altLang="en-US" sz="1800"/>
              <a:t> - Roswitha Duwenbeck &amp; Elsa Andrea Kirchner.</a:t>
            </a:r>
            <a:endParaRPr lang="en-US" altLang="en-US" sz="1800"/>
          </a:p>
          <a:p>
            <a:pPr marL="342900" indent="-342900" algn="just">
              <a:buAutoNum type="arabicPeriod"/>
            </a:pPr>
            <a:r>
              <a:rPr lang="en-US" altLang="en-US" sz="1800" b="1"/>
              <a:t> “A voice-based real-time emotion detection technique</a:t>
            </a:r>
            <a:r>
              <a:rPr lang="en-IN" altLang="en-US" sz="1800" b="1"/>
              <a:t> </a:t>
            </a:r>
            <a:r>
              <a:rPr lang="en-US" altLang="en-US" sz="1800" b="1"/>
              <a:t>using recurrent neural network empowered</a:t>
            </a:r>
            <a:r>
              <a:rPr lang="en-IN" altLang="en-US" sz="1800" b="1"/>
              <a:t> </a:t>
            </a:r>
            <a:r>
              <a:rPr lang="en-US" altLang="en-US" sz="1800" b="1"/>
              <a:t>feature modelling”</a:t>
            </a:r>
            <a:r>
              <a:rPr lang="en-US" altLang="en-US" sz="1800"/>
              <a:t> - Sadil Chamishka</a:t>
            </a:r>
            <a:r>
              <a:rPr lang="en-IN" altLang="en-US" sz="1800"/>
              <a:t>,</a:t>
            </a:r>
            <a:r>
              <a:rPr lang="en-US" altLang="en-US" sz="1800"/>
              <a:t> Ishara Madhavi</a:t>
            </a:r>
            <a:r>
              <a:rPr lang="en-IN" altLang="en-US" sz="1800"/>
              <a:t>, </a:t>
            </a:r>
            <a:r>
              <a:rPr lang="en-US" altLang="en-US" sz="1800"/>
              <a:t>Rashmika Nawaratne</a:t>
            </a:r>
            <a:r>
              <a:rPr lang="en-IN" altLang="en-US" sz="1800"/>
              <a:t>, </a:t>
            </a:r>
            <a:r>
              <a:rPr lang="en-US" altLang="en-US" sz="1800"/>
              <a:t>Damminda Alahakoon</a:t>
            </a:r>
            <a:r>
              <a:rPr lang="en-IN" altLang="en-US" sz="1800"/>
              <a:t>, </a:t>
            </a:r>
            <a:r>
              <a:rPr lang="en-US" altLang="en-US" sz="1800"/>
              <a:t>Daswin De Silva</a:t>
            </a:r>
            <a:r>
              <a:rPr lang="en-IN" altLang="en-US" sz="1800"/>
              <a:t>, </a:t>
            </a:r>
            <a:r>
              <a:rPr lang="en-US" altLang="en-US" sz="1800"/>
              <a:t>Naveen Chilamkurti</a:t>
            </a:r>
            <a:r>
              <a:rPr lang="en-IN" altLang="en-US" sz="1800"/>
              <a:t> &amp; </a:t>
            </a:r>
            <a:r>
              <a:rPr lang="en-US" altLang="en-US" sz="1800"/>
              <a:t>Vishaka Nanayakkara1</a:t>
            </a:r>
            <a:endParaRPr lang="en-US" altLang="en-US" sz="1800"/>
          </a:p>
          <a:p>
            <a:pPr marL="342900" indent="-342900" algn="just">
              <a:buAutoNum type="arabicPeriod"/>
            </a:pPr>
            <a:r>
              <a:rPr lang="en-US" altLang="en-US" sz="1800" b="1"/>
              <a:t>Python Documentation:</a:t>
            </a:r>
            <a:r>
              <a:rPr lang="en-US" altLang="en-US" sz="1800">
                <a:hlinkClick r:id="rId1" action="ppaction://hlinkfile"/>
              </a:rPr>
              <a:t> https://docs.python.org/3/</a:t>
            </a:r>
            <a:endParaRPr lang="en-US" altLang="en-US" sz="1800"/>
          </a:p>
          <a:p>
            <a:pPr marL="0" indent="0" algn="just">
              <a:buNone/>
            </a:pPr>
            <a:r>
              <a:rPr lang="en-IN" altLang="en-US" sz="1800" b="1"/>
              <a:t>6. </a:t>
            </a:r>
            <a:r>
              <a:rPr lang="en-US" altLang="en-US" sz="1800"/>
              <a:t> </a:t>
            </a:r>
            <a:r>
              <a:rPr lang="en-US" altLang="en-US" sz="1800" b="1"/>
              <a:t>SpeechRecognition Library:</a:t>
            </a:r>
            <a:r>
              <a:rPr lang="en-US" altLang="en-US" sz="1800"/>
              <a:t> </a:t>
            </a:r>
            <a:r>
              <a:rPr lang="en-US" altLang="en-US" sz="1800">
                <a:hlinkClick r:id="rId1" action="ppaction://hlinkfile"/>
              </a:rPr>
              <a:t>https://pypi.org/project/SpeechRecognition/</a:t>
            </a:r>
            <a:endParaRPr lang="en-US" altLang="en-US" sz="1800"/>
          </a:p>
          <a:p>
            <a:pPr marL="0" indent="0" algn="just">
              <a:buNone/>
            </a:pPr>
            <a:r>
              <a:rPr lang="en-IN" altLang="en-US" sz="1800" b="1"/>
              <a:t>7. </a:t>
            </a:r>
            <a:r>
              <a:rPr lang="en-US" altLang="en-US" sz="1800" b="1"/>
              <a:t>Wikipedia REST API:</a:t>
            </a:r>
            <a:r>
              <a:rPr lang="en-US" altLang="en-US" sz="1800"/>
              <a:t> </a:t>
            </a:r>
            <a:r>
              <a:rPr lang="en-US" altLang="en-US" sz="1800">
                <a:hlinkClick r:id="rId2" action="ppaction://hlinkfile"/>
              </a:rPr>
              <a:t>https://en.wikipedia.org/api/rest_v1/</a:t>
            </a:r>
            <a:endParaRPr lang="en-US" altLang="en-US" sz="1800"/>
          </a:p>
          <a:p>
            <a:pPr marL="0" indent="0" algn="just">
              <a:buNone/>
            </a:pPr>
            <a:r>
              <a:rPr lang="en-IN" altLang="en-US" sz="1800" b="1"/>
              <a:t>8. </a:t>
            </a:r>
            <a:r>
              <a:rPr lang="en-US" altLang="en-US" sz="1800" b="1"/>
              <a:t>Python Requests Library:</a:t>
            </a:r>
            <a:r>
              <a:rPr lang="en-US" altLang="en-US" sz="1800"/>
              <a:t> </a:t>
            </a:r>
            <a:r>
              <a:rPr lang="en-US" altLang="en-US" sz="1800">
                <a:hlinkClick r:id="rId3" action="ppaction://hlinkfile"/>
              </a:rPr>
              <a:t>https://requests.readthedocs.io/en/latest/</a:t>
            </a:r>
            <a:endParaRPr lang="en-US" altLang="en-US" sz="1800"/>
          </a:p>
        </p:txBody>
      </p:sp>
      <p:sp>
        <p:nvSpPr>
          <p:cNvPr id="4" name="Date Placeholder 3"/>
          <p:cNvSpPr>
            <a:spLocks noGrp="1"/>
          </p:cNvSpPr>
          <p:nvPr>
            <p:ph type="dt" sz="half" idx="10"/>
          </p:nvPr>
        </p:nvSpPr>
        <p:spPr/>
        <p:txBody>
          <a:bodyPr/>
          <a:p>
            <a:pPr>
              <a:defRPr/>
            </a:pPr>
            <a:fld id="{6907BCE9-832B-4CF1-A300-CFAFFA53FA5E}" type="datetime2">
              <a:rPr lang="en-US"/>
            </a:fld>
            <a:endParaRPr lang="en-US" dirty="0"/>
          </a:p>
        </p:txBody>
      </p:sp>
      <p:sp>
        <p:nvSpPr>
          <p:cNvPr id="5" name="Footer Placeholder 4"/>
          <p:cNvSpPr>
            <a:spLocks noGrp="1"/>
          </p:cNvSpPr>
          <p:nvPr>
            <p:ph type="ftr" sz="quarter" idx="11"/>
          </p:nvPr>
        </p:nvSpPr>
        <p:spPr/>
        <p:txBody>
          <a:bodyPr/>
          <a:p>
            <a:pPr>
              <a:defRPr/>
            </a:pPr>
            <a:r>
              <a:rPr lang="en-US" dirty="0"/>
              <a:t>© BVRIT CSE(AI &amp; ML)</a:t>
            </a:r>
            <a:endParaRPr lang="en-US" dirty="0"/>
          </a:p>
        </p:txBody>
      </p:sp>
      <p:sp>
        <p:nvSpPr>
          <p:cNvPr id="6" name="Slide Number Placeholder 5"/>
          <p:cNvSpPr>
            <a:spLocks noGrp="1"/>
          </p:cNvSpPr>
          <p:nvPr>
            <p:ph type="sldNum" sz="quarter" idx="12"/>
          </p:nvPr>
        </p:nvSpPr>
        <p:spPr/>
        <p:txBody>
          <a:bodyPr/>
          <a:p>
            <a:pPr>
              <a:defRPr/>
            </a:pPr>
            <a:fld id="{2D96E056-3901-41CB-802B-E67DADB7F3B2}" type="slidenum">
              <a:rPr lang="en-US" altLang="en-US"/>
            </a:fld>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Footer Placeholder 4"/>
          <p:cNvSpPr>
            <a:spLocks noGrp="1"/>
          </p:cNvSpPr>
          <p:nvPr>
            <p:ph type="ftr" sz="quarter" idx="11"/>
          </p:nvPr>
        </p:nvSpPr>
        <p:spPr bwMode="auto">
          <a:ln>
            <a:miter lim="800000"/>
          </a:ln>
        </p:spPr>
        <p:txBody>
          <a:bodyPr wrap="square" numCol="1" anchorCtr="0" compatLnSpc="1"/>
          <a:lstStyle/>
          <a:p>
            <a:pPr fontAlgn="base">
              <a:spcBef>
                <a:spcPct val="0"/>
              </a:spcBef>
              <a:spcAft>
                <a:spcPct val="0"/>
              </a:spcAft>
              <a:defRPr/>
            </a:pPr>
            <a:r>
              <a:rPr lang="en-US" altLang="en-US" dirty="0"/>
              <a:t>© BVRIT CSE(AI &amp; ML)</a:t>
            </a:r>
            <a:endParaRPr lang="en-US" altLang="en-US" dirty="0"/>
          </a:p>
        </p:txBody>
      </p:sp>
      <p:sp>
        <p:nvSpPr>
          <p:cNvPr id="14341" name="Slide Number Placeholder 5"/>
          <p:cNvSpPr>
            <a:spLocks noGrp="1"/>
          </p:cNvSpPr>
          <p:nvPr>
            <p:ph type="sldNum" sz="quarter" idx="12"/>
          </p:nvPr>
        </p:nvSpPr>
        <p:spPr bwMode="auto">
          <a:noFill/>
          <a:ln>
            <a:miter lim="800000"/>
          </a:ln>
        </p:spPr>
        <p:txBody>
          <a:bodyPr/>
          <a:lstStyle/>
          <a:p>
            <a:fld id="{D0875F05-5E2C-49B8-9428-2F9C627CBDFB}" type="slidenum">
              <a:rPr lang="en-US" altLang="en-US"/>
            </a:fld>
            <a:endParaRPr lang="en-US" altLang="en-US" dirty="0"/>
          </a:p>
        </p:txBody>
      </p:sp>
      <p:sp>
        <p:nvSpPr>
          <p:cNvPr id="10" name="Title 9"/>
          <p:cNvSpPr>
            <a:spLocks noGrp="1"/>
          </p:cNvSpPr>
          <p:nvPr>
            <p:ph type="title"/>
          </p:nvPr>
        </p:nvSpPr>
        <p:spPr>
          <a:xfrm>
            <a:off x="2654877" y="2077008"/>
            <a:ext cx="6083877" cy="2271588"/>
          </a:xfrm>
        </p:spPr>
        <p:txBody>
          <a:bodyPr/>
          <a:lstStyle/>
          <a:p>
            <a:pPr algn="ctr"/>
            <a:r>
              <a:rPr lang="en-US" sz="5000" dirty="0"/>
              <a:t>Thank You </a:t>
            </a:r>
            <a:endParaRPr lang="en-US" sz="5000" dirty="0"/>
          </a:p>
        </p:txBody>
      </p:sp>
      <p:sp>
        <p:nvSpPr>
          <p:cNvPr id="2" name="Date Placeholder 1"/>
          <p:cNvSpPr>
            <a:spLocks noGrp="1"/>
          </p:cNvSpPr>
          <p:nvPr>
            <p:ph type="dt" sz="half" idx="10"/>
          </p:nvPr>
        </p:nvSpPr>
        <p:spPr/>
        <p:txBody>
          <a:bodyPr/>
          <a:p>
            <a:pPr>
              <a:defRPr/>
            </a:pPr>
            <a:fld id="{6907BCE9-832B-4CF1-A300-CFAFFA53FA5E}" type="datetime2">
              <a:rPr lang="en-US"/>
            </a:fld>
            <a:endParaRPr lang="en-US" dirty="0"/>
          </a:p>
        </p:txBody>
      </p:sp>
    </p:spTree>
  </p:cSld>
  <p:clrMapOvr>
    <a:masterClrMapping/>
  </p:clrMapOvr>
</p:sld>
</file>

<file path=ppt/tags/tag1.xml><?xml version="1.0" encoding="utf-8"?>
<p:tagLst xmlns:p="http://schemas.openxmlformats.org/presentationml/2006/main">
  <p:tag name="TABLE_ENDDRAG_ORIGIN_RECT" val="895*268"/>
  <p:tag name="TABLE_ENDDRAG_RECT" val="19*77*895*268"/>
</p:tagLst>
</file>

<file path=ppt/tags/tag2.xml><?xml version="1.0" encoding="utf-8"?>
<p:tagLst xmlns:p="http://schemas.openxmlformats.org/presentationml/2006/main">
  <p:tag name="TABLE_ENDDRAG_ORIGIN_RECT" val="906*338"/>
  <p:tag name="TABLE_ENDDRAG_RECT" val="25*102*906*338"/>
</p:tagLst>
</file>

<file path=ppt/tags/tag3.xml><?xml version="1.0" encoding="utf-8"?>
<p:tagLst xmlns:p="http://schemas.openxmlformats.org/presentationml/2006/main">
  <p:tag name="TABLE_ENDDRAG_ORIGIN_RECT" val="894*363"/>
  <p:tag name="TABLE_ENDDRAG_RECT" val="35*85*894*363"/>
</p:tagLst>
</file>

<file path=ppt/theme/theme1.xml><?xml version="1.0" encoding="utf-8"?>
<a:theme xmlns:a="http://schemas.openxmlformats.org/drawingml/2006/main" name="Office Theme">
  <a:themeElements>
    <a:clrScheme na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0070C0"/>
      </a:folHlink>
    </a:clrScheme>
    <a:fontScheme name="Chinni's">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9999</Words>
  <Application>WPS Presentation</Application>
  <PresentationFormat>Widescreen</PresentationFormat>
  <Paragraphs>388</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Bookman Old Style</vt:lpstr>
      <vt:lpstr>Calibri</vt:lpstr>
      <vt:lpstr>Cambria</vt:lpstr>
      <vt:lpstr>Söhne</vt:lpstr>
      <vt:lpstr>Microsoft YaHei</vt:lpstr>
      <vt:lpstr>Arial Unicode MS</vt:lpstr>
      <vt:lpstr>Times New Roman</vt:lpstr>
      <vt:lpstr>Segoe Print</vt:lpstr>
      <vt:lpstr>Office Theme</vt:lpstr>
      <vt:lpstr>B V RAJU INSTITUTE OF TECHNOLOGY (UGC Autonomous) Vishnupur, Narsapur, Medak District</vt:lpstr>
      <vt:lpstr>Outline</vt:lpstr>
      <vt:lpstr>MOTIVATION</vt:lpstr>
      <vt:lpstr>INTRODUCTION </vt:lpstr>
      <vt:lpstr>INTRODUCTION TO DOMAIN</vt:lpstr>
      <vt:lpstr>ABSTRACT</vt:lpstr>
      <vt:lpstr>PROBLEM STATEMENT</vt:lpstr>
      <vt:lpstr>LITERATURE REVIEW</vt:lpstr>
      <vt:lpstr>LITERATURE REVIEW</vt:lpstr>
      <vt:lpstr>LITERATURE REVIEW</vt:lpstr>
      <vt:lpstr>LITERATURE REVIEW</vt:lpstr>
      <vt:lpstr>METHODOLOGY</vt:lpstr>
      <vt:lpstr>METHODOLOGY</vt:lpstr>
      <vt:lpstr>ARCHITECTURE</vt:lpstr>
      <vt:lpstr>ARCHITECTURE</vt:lpstr>
      <vt:lpstr>IMPLEMENTATION</vt:lpstr>
      <vt:lpstr>RESULTS</vt:lpstr>
      <vt:lpstr>CONCLUSION</vt:lpstr>
      <vt:lpstr>REFERENCES</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Dhanasai Bontu</dc:creator>
  <cp:lastModifiedBy>Kavya Spoorthi</cp:lastModifiedBy>
  <cp:revision>450</cp:revision>
  <dcterms:created xsi:type="dcterms:W3CDTF">2022-01-24T13:25:00Z</dcterms:created>
  <dcterms:modified xsi:type="dcterms:W3CDTF">2025-05-29T17:05:55Z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486AF933294B462CBA8D8CDC728AC93E_12</vt:lpwstr>
  </property>
  <property fmtid="{D5CDD505-2E9C-101B-9397-08002B2CF9AE}" pid="3" name="KSOProductBuildVer">
    <vt:lpwstr>1033-12.2.0.21179</vt:lpwstr>
  </property>
</Properties>
</file>